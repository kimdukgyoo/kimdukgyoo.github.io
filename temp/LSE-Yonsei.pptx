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embeddedFontLst>
    <p:embeddedFont>
      <p:font typeface="Arial Narrow" panose="020B0606020202030204" pitchFamily="34" charset="0"/>
      <p:regular r:id="rId18"/>
      <p:bold r:id="rId19"/>
      <p:italic r:id="rId20"/>
      <p:boldItalic r:id="rId21"/>
    </p:embeddedFont>
    <p:embeddedFont>
      <p:font typeface="Calibri" panose="020F050202020403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9yK+NQrG2T7uqqx2S+8vhpS7x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A3C097-8088-452F-8DB1-428490DD5ACE}">
  <a:tblStyle styleId="{C6A3C097-8088-452F-8DB1-428490DD5AC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70" d="100"/>
          <a:sy n="70" d="100"/>
        </p:scale>
        <p:origin x="512"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Calibri"/>
                <a:ea typeface="Calibri"/>
                <a:cs typeface="Calibri"/>
                <a:sym typeface="Calibri"/>
              </a:rPr>
              <a:t>Cover. Photographs and the diagonal composition follow the supplied reference (cover.png): LSE above, Yonsei below. Still to be completed — (1) the official logos of both universities, in the marked box; (2) confirmation that the photographs are licensed for print use, and their credits; (3) whether the LSE strapline "Excellence. Insight. Impact." may be used on a joint publication; (4) the Korean title of the programme, if the brochure is issued bilingually; (5) publisher, date of publication and document version.</a:t>
            </a:r>
            <a:endParaRP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Rankings supplied by Yonsei: Yonsei 42nd overall (QS World University Rankings 2027) and =74th for Economics &amp; Econometrics (QS by Subject 2026); LSE 62nd overall and 6th for Economics &amp; Econometrics. NOTE — the two LSE figures were supplied without an edition year; confirm they come from the same two editions cited in the source line before printing. Left photograph: Daewoo Hall (Graduate School of Economics), supplied by Yonsei. Right: LSE to supply an exterior of the Sir Arthur Lewis Building, 32 Lincoln’s Inn Fields, landscape, same crop as the Yonsei image; photo credits needed for both.</a:t>
            </a:r>
            <a:endParaRPr/>
          </a:p>
        </p:txBody>
      </p:sp>
      <p:sp>
        <p:nvSpPr>
          <p:cNvPr id="103" name="Google Shape;103;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Brand statement page. No equivalent copy exists in the source document. Photograph: Underwood Hall (main building), Yonsei University. If LSE would prefer a London image here instead, an alternative is Houghton Street looking towards the Old Building, or the LSE Library (Lionel Robbins Building).</a:t>
            </a:r>
            <a:endParaRPr/>
          </a:p>
        </p:txBody>
      </p:sp>
      <p:sp>
        <p:nvSpPr>
          <p:cNvPr id="134" name="Google Shape;13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3" name="Google Shape;15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§1 Programme Overview and §3 Number of Places.</a:t>
            </a:r>
            <a:endParaRPr/>
          </a:p>
        </p:txBody>
      </p:sp>
      <p:sp>
        <p:nvSpPr>
          <p:cNvPr id="154" name="Google Shape;154;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§8 Programme Structure and Administration, and §4 Admissions Schedule.</a:t>
            </a:r>
            <a:endParaRPr/>
          </a:p>
        </p:txBody>
      </p:sp>
      <p:sp>
        <p:nvSpPr>
          <p:cNvPr id="184" name="Google Shape;184;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 name="Google Shape;214;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§8 Year 1: Yonsei University, and the progression requirements in §9.</a:t>
            </a:r>
            <a:endParaRPr/>
          </a:p>
        </p:txBody>
      </p:sp>
      <p:sp>
        <p:nvSpPr>
          <p:cNvPr id="215" name="Google Shape;215;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7" name="Google Shape;22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§8 Year 2: LSE and Joint Administration, with parts of §9.</a:t>
            </a:r>
            <a:endParaRPr/>
          </a:p>
        </p:txBody>
      </p:sp>
      <p:sp>
        <p:nvSpPr>
          <p:cNvPr id="228" name="Google Shape;228;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§9 Progression and Degree Requirements.</a:t>
            </a:r>
            <a:endParaRPr/>
          </a:p>
        </p:txBody>
      </p:sp>
      <p:sp>
        <p:nvSpPr>
          <p:cNvPr id="240" name="Google Shape;240;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§4 Admissions Schedule. Detailed dates are not yet fixed, so a blank table is provided.</a:t>
            </a:r>
            <a:endParaRPr/>
          </a:p>
        </p:txBody>
      </p:sp>
      <p:sp>
        <p:nvSpPr>
          <p:cNvPr id="252" name="Google Shape;252;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§5 Eligibility and Admission Requirements.</a:t>
            </a:r>
            <a:endParaRPr/>
          </a:p>
        </p:txBody>
      </p:sp>
      <p:sp>
        <p:nvSpPr>
          <p:cNvPr id="262" name="Google Shape;262;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§6 Selection and Admissions Process.</a:t>
            </a:r>
            <a:endParaRPr/>
          </a:p>
        </p:txBody>
      </p:sp>
      <p:sp>
        <p:nvSpPr>
          <p:cNvPr id="277" name="Google Shape;277;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§7 Tuition Fees and Other Costs.</a:t>
            </a:r>
            <a:endParaRPr/>
          </a:p>
        </p:txBody>
      </p:sp>
      <p:sp>
        <p:nvSpPr>
          <p:cNvPr id="304" name="Google Shape;304;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9" name="Google Shape;329;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Source: §10 Important Information, and the personal data consent item in §5.</a:t>
            </a:r>
            <a:endParaRPr/>
          </a:p>
        </p:txBody>
      </p:sp>
      <p:sp>
        <p:nvSpPr>
          <p:cNvPr id="330" name="Google Shape;330;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3" name="Google Shape;343;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The source document contains no faculty or student data, so those areas are blank. Left photograph: Akaraka, the Yonsei festival. Right: LSE to supply a student-life image — graduation on Houghton Street or the Saw Swee Hock Student Centre.</a:t>
            </a:r>
            <a:endParaRPr/>
          </a:p>
        </p:txBody>
      </p:sp>
      <p:sp>
        <p:nvSpPr>
          <p:cNvPr id="344" name="Google Shape;344;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0" name="Google Shape;370;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Calibri"/>
                <a:ea typeface="Calibri"/>
                <a:cs typeface="Calibri"/>
                <a:sym typeface="Calibri"/>
              </a:rPr>
              <a:t>No contact details appear in the source document, so this page is blank. The closing paragraph is taken from the last item of §10. </a:t>
            </a:r>
            <a:endParaRPr sz="1200">
              <a:solidFill>
                <a:schemeClr val="dk1"/>
              </a:solidFill>
              <a:latin typeface="Calibri"/>
              <a:ea typeface="Calibri"/>
              <a:cs typeface="Calibri"/>
              <a:sym typeface="Calibri"/>
            </a:endParaRPr>
          </a:p>
        </p:txBody>
      </p:sp>
      <p:sp>
        <p:nvSpPr>
          <p:cNvPr id="371" name="Google Shape;371;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8"/>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8"/>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8"/>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080177" y="1503095"/>
            <a:ext cx="12242008" cy="103715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2160354" y="2741859"/>
            <a:ext cx="10081654" cy="1236525"/>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9"/>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9"/>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9"/>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720118" y="1129001"/>
            <a:ext cx="12962126" cy="3193236"/>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1137687" y="3109233"/>
            <a:ext cx="12242008" cy="96099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1137687" y="2050795"/>
            <a:ext cx="12242008" cy="1058438"/>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1"/>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1"/>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1"/>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720118" y="1129001"/>
            <a:ext cx="6361043" cy="319323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2"/>
          <p:cNvSpPr txBox="1">
            <a:spLocks noGrp="1"/>
          </p:cNvSpPr>
          <p:nvPr>
            <p:ph type="body" idx="2"/>
          </p:nvPr>
        </p:nvSpPr>
        <p:spPr>
          <a:xfrm>
            <a:off x="7321201" y="1129001"/>
            <a:ext cx="6361043" cy="3193236"/>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2"/>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2"/>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2"/>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720118" y="1083080"/>
            <a:ext cx="6363545" cy="451376"/>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720118" y="1534456"/>
            <a:ext cx="6363545" cy="2787781"/>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3"/>
          <p:cNvSpPr txBox="1">
            <a:spLocks noGrp="1"/>
          </p:cNvSpPr>
          <p:nvPr>
            <p:ph type="body" idx="3"/>
          </p:nvPr>
        </p:nvSpPr>
        <p:spPr>
          <a:xfrm>
            <a:off x="7316200" y="1083080"/>
            <a:ext cx="6366044" cy="451376"/>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7316200" y="1534456"/>
            <a:ext cx="6366044" cy="2787781"/>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3"/>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3"/>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3"/>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4"/>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4"/>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5"/>
          <p:cNvSpPr txBox="1">
            <a:spLocks noGrp="1"/>
          </p:cNvSpPr>
          <p:nvPr>
            <p:ph type="title"/>
          </p:nvPr>
        </p:nvSpPr>
        <p:spPr>
          <a:xfrm>
            <a:off x="720118" y="192647"/>
            <a:ext cx="4738278" cy="81987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5"/>
          <p:cNvSpPr txBox="1">
            <a:spLocks noGrp="1"/>
          </p:cNvSpPr>
          <p:nvPr>
            <p:ph type="body" idx="1"/>
          </p:nvPr>
        </p:nvSpPr>
        <p:spPr>
          <a:xfrm>
            <a:off x="5630924" y="192647"/>
            <a:ext cx="8051321" cy="412959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5"/>
          <p:cNvSpPr txBox="1">
            <a:spLocks noGrp="1"/>
          </p:cNvSpPr>
          <p:nvPr>
            <p:ph type="body" idx="2"/>
          </p:nvPr>
        </p:nvSpPr>
        <p:spPr>
          <a:xfrm>
            <a:off x="720118" y="1012517"/>
            <a:ext cx="4738278" cy="330972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5"/>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5"/>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5"/>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6"/>
          <p:cNvSpPr txBox="1">
            <a:spLocks noGrp="1"/>
          </p:cNvSpPr>
          <p:nvPr>
            <p:ph type="title"/>
          </p:nvPr>
        </p:nvSpPr>
        <p:spPr>
          <a:xfrm>
            <a:off x="2822964" y="3387003"/>
            <a:ext cx="8641418" cy="39985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6"/>
          <p:cNvSpPr>
            <a:spLocks noGrp="1"/>
          </p:cNvSpPr>
          <p:nvPr>
            <p:ph type="pic" idx="2"/>
          </p:nvPr>
        </p:nvSpPr>
        <p:spPr>
          <a:xfrm>
            <a:off x="2822964" y="432336"/>
            <a:ext cx="8641418" cy="2903145"/>
          </a:xfrm>
          <a:prstGeom prst="rect">
            <a:avLst/>
          </a:prstGeom>
          <a:noFill/>
          <a:ln>
            <a:noFill/>
          </a:ln>
        </p:spPr>
      </p:sp>
      <p:sp>
        <p:nvSpPr>
          <p:cNvPr id="64" name="Google Shape;64;p26"/>
          <p:cNvSpPr txBox="1">
            <a:spLocks noGrp="1"/>
          </p:cNvSpPr>
          <p:nvPr>
            <p:ph type="body" idx="1"/>
          </p:nvPr>
        </p:nvSpPr>
        <p:spPr>
          <a:xfrm>
            <a:off x="2822964" y="3786858"/>
            <a:ext cx="8641418" cy="56786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6"/>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6"/>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6"/>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7"/>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7"/>
          <p:cNvSpPr txBox="1">
            <a:spLocks noGrp="1"/>
          </p:cNvSpPr>
          <p:nvPr>
            <p:ph type="body" idx="1"/>
          </p:nvPr>
        </p:nvSpPr>
        <p:spPr>
          <a:xfrm rot="5400000">
            <a:off x="3636847" y="-177526"/>
            <a:ext cx="7128670" cy="5806291"/>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7"/>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7"/>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7"/>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8"/>
          <p:cNvSpPr txBox="1">
            <a:spLocks noGrp="1"/>
          </p:cNvSpPr>
          <p:nvPr>
            <p:ph type="title"/>
          </p:nvPr>
        </p:nvSpPr>
        <p:spPr>
          <a:xfrm rot="5400000">
            <a:off x="7453724" y="1532216"/>
            <a:ext cx="9216512" cy="1451573"/>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8"/>
          <p:cNvSpPr txBox="1">
            <a:spLocks noGrp="1"/>
          </p:cNvSpPr>
          <p:nvPr>
            <p:ph type="body" idx="1"/>
          </p:nvPr>
        </p:nvSpPr>
        <p:spPr>
          <a:xfrm rot="5400000">
            <a:off x="852641" y="134405"/>
            <a:ext cx="9216512" cy="4247194"/>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8"/>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8"/>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720118" y="193767"/>
            <a:ext cx="12962126" cy="80642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7"/>
          <p:cNvSpPr txBox="1">
            <a:spLocks noGrp="1"/>
          </p:cNvSpPr>
          <p:nvPr>
            <p:ph type="body" idx="1"/>
          </p:nvPr>
        </p:nvSpPr>
        <p:spPr>
          <a:xfrm>
            <a:off x="720118" y="1129001"/>
            <a:ext cx="12962126" cy="3193236"/>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720118" y="4484643"/>
            <a:ext cx="3360551" cy="257609"/>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4920807" y="4484643"/>
            <a:ext cx="4560748" cy="257609"/>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10321693" y="4484643"/>
            <a:ext cx="3360551" cy="257609"/>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lse.ac.uk/economics/people/faculty" TargetMode="External"/><Relationship Id="rId5" Type="http://schemas.openxmlformats.org/officeDocument/2006/relationships/hyperlink" Target="https://devcms.yonsei.ac.kr/economics_en/faculty/faculty.do" TargetMode="Externa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hyperlink" Target="mailto:economy@yonsei.ac.kr"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mailto:Econ.Yonsei.doubledegree@lse.ac.u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1EE"/>
        </a:solidFill>
        <a:effectLst/>
      </p:bgPr>
    </p:bg>
    <p:spTree>
      <p:nvGrpSpPr>
        <p:cNvPr id="1" name="Shape 84"/>
        <p:cNvGrpSpPr/>
        <p:nvPr/>
      </p:nvGrpSpPr>
      <p:grpSpPr>
        <a:xfrm>
          <a:off x="0" y="0"/>
          <a:ext cx="0" cy="0"/>
          <a:chOff x="0" y="0"/>
          <a:chExt cx="0" cy="0"/>
        </a:xfrm>
      </p:grpSpPr>
      <p:pic>
        <p:nvPicPr>
          <p:cNvPr id="85" name="Google Shape;85;p1" descr="cover_bg.png"/>
          <p:cNvPicPr preferRelativeResize="0"/>
          <p:nvPr/>
        </p:nvPicPr>
        <p:blipFill rotWithShape="1">
          <a:blip r:embed="rId3">
            <a:alphaModFix/>
          </a:blip>
          <a:srcRect/>
          <a:stretch/>
        </p:blipFill>
        <p:spPr>
          <a:xfrm>
            <a:off x="0" y="0"/>
            <a:ext cx="5460840" cy="6858000"/>
          </a:xfrm>
          <a:prstGeom prst="rect">
            <a:avLst/>
          </a:prstGeom>
          <a:noFill/>
          <a:ln>
            <a:noFill/>
          </a:ln>
        </p:spPr>
      </p:pic>
      <p:sp>
        <p:nvSpPr>
          <p:cNvPr id="86" name="Google Shape;86;p1"/>
          <p:cNvSpPr/>
          <p:nvPr/>
        </p:nvSpPr>
        <p:spPr>
          <a:xfrm>
            <a:off x="468000" y="345600"/>
            <a:ext cx="16510" cy="685800"/>
          </a:xfrm>
          <a:prstGeom prst="rect">
            <a:avLst/>
          </a:prstGeom>
          <a:solidFill>
            <a:srgbClr val="B28D5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7" name="Google Shape;87;p1"/>
          <p:cNvSpPr txBox="1"/>
          <p:nvPr/>
        </p:nvSpPr>
        <p:spPr>
          <a:xfrm>
            <a:off x="648000" y="306000"/>
            <a:ext cx="2032000" cy="822293"/>
          </a:xfrm>
          <a:prstGeom prst="rect">
            <a:avLst/>
          </a:prstGeom>
          <a:noFill/>
          <a:ln>
            <a:noFill/>
          </a:ln>
        </p:spPr>
        <p:txBody>
          <a:bodyPr spcFirstLastPara="1" wrap="square" lIns="0" tIns="0" rIns="0" bIns="0" anchor="t" anchorCtr="0">
            <a:spAutoFit/>
          </a:bodyPr>
          <a:lstStyle/>
          <a:p>
            <a:pPr marL="0" marR="0" lvl="0" indent="0" algn="l" rtl="0">
              <a:lnSpc>
                <a:spcPct val="131039"/>
              </a:lnSpc>
              <a:spcBef>
                <a:spcPts val="0"/>
              </a:spcBef>
              <a:spcAft>
                <a:spcPts val="0"/>
              </a:spcAft>
              <a:buNone/>
            </a:pPr>
            <a:r>
              <a:rPr lang="en-US" sz="1562" b="0" i="0" u="none" strike="noStrike" cap="none">
                <a:solidFill>
                  <a:srgbClr val="0A2043"/>
                </a:solidFill>
                <a:latin typeface="Times New Roman"/>
                <a:ea typeface="Times New Roman"/>
                <a:cs typeface="Times New Roman"/>
                <a:sym typeface="Times New Roman"/>
              </a:rPr>
              <a:t>Excellence.</a:t>
            </a:r>
            <a:endParaRPr/>
          </a:p>
          <a:p>
            <a:pPr marL="0" marR="0" lvl="0" indent="0" algn="l" rtl="0">
              <a:lnSpc>
                <a:spcPct val="131039"/>
              </a:lnSpc>
              <a:spcBef>
                <a:spcPts val="0"/>
              </a:spcBef>
              <a:spcAft>
                <a:spcPts val="0"/>
              </a:spcAft>
              <a:buNone/>
            </a:pPr>
            <a:r>
              <a:rPr lang="en-US" sz="1562" b="0" i="0" u="none" strike="noStrike" cap="none">
                <a:solidFill>
                  <a:srgbClr val="0A2043"/>
                </a:solidFill>
                <a:latin typeface="Times New Roman"/>
                <a:ea typeface="Times New Roman"/>
                <a:cs typeface="Times New Roman"/>
                <a:sym typeface="Times New Roman"/>
              </a:rPr>
              <a:t>Insight.</a:t>
            </a:r>
            <a:endParaRPr/>
          </a:p>
          <a:p>
            <a:pPr marL="0" marR="0" lvl="0" indent="0" algn="l" rtl="0">
              <a:lnSpc>
                <a:spcPct val="131039"/>
              </a:lnSpc>
              <a:spcBef>
                <a:spcPts val="0"/>
              </a:spcBef>
              <a:spcAft>
                <a:spcPts val="0"/>
              </a:spcAft>
              <a:buNone/>
            </a:pPr>
            <a:r>
              <a:rPr lang="en-US" sz="1562" b="0" i="0" u="none" strike="noStrike" cap="none">
                <a:solidFill>
                  <a:srgbClr val="0A2043"/>
                </a:solidFill>
                <a:latin typeface="Times New Roman"/>
                <a:ea typeface="Times New Roman"/>
                <a:cs typeface="Times New Roman"/>
                <a:sym typeface="Times New Roman"/>
              </a:rPr>
              <a:t>Impact.</a:t>
            </a:r>
            <a:endParaRPr/>
          </a:p>
        </p:txBody>
      </p:sp>
      <p:sp>
        <p:nvSpPr>
          <p:cNvPr id="88" name="Google Shape;88;p1"/>
          <p:cNvSpPr txBox="1"/>
          <p:nvPr/>
        </p:nvSpPr>
        <p:spPr>
          <a:xfrm>
            <a:off x="6227043" y="1521120"/>
            <a:ext cx="1569136" cy="9610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6" b="0" i="0" u="none" strike="noStrike" cap="none" spc="172">
                <a:solidFill>
                  <a:srgbClr val="701014"/>
                </a:solidFill>
                <a:latin typeface="Times New Roman"/>
                <a:ea typeface="Times New Roman"/>
                <a:cs typeface="Times New Roman"/>
                <a:sym typeface="Times New Roman"/>
              </a:rPr>
              <a:t>LSE</a:t>
            </a:r>
            <a:endParaRPr/>
          </a:p>
        </p:txBody>
      </p:sp>
      <p:sp>
        <p:nvSpPr>
          <p:cNvPr id="89" name="Google Shape;89;p1"/>
          <p:cNvSpPr txBox="1"/>
          <p:nvPr/>
        </p:nvSpPr>
        <p:spPr>
          <a:xfrm>
            <a:off x="7781446" y="1521120"/>
            <a:ext cx="649536" cy="9610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6" b="0" i="0" u="none" strike="noStrike" cap="none" spc="172">
                <a:solidFill>
                  <a:srgbClr val="B28D50"/>
                </a:solidFill>
                <a:latin typeface="Times New Roman"/>
                <a:ea typeface="Times New Roman"/>
                <a:cs typeface="Times New Roman"/>
                <a:sym typeface="Times New Roman"/>
              </a:rPr>
              <a:t>×</a:t>
            </a:r>
            <a:endParaRPr/>
          </a:p>
        </p:txBody>
      </p:sp>
      <p:sp>
        <p:nvSpPr>
          <p:cNvPr id="90" name="Google Shape;90;p1"/>
          <p:cNvSpPr txBox="1"/>
          <p:nvPr/>
        </p:nvSpPr>
        <p:spPr>
          <a:xfrm>
            <a:off x="8416249" y="1521120"/>
            <a:ext cx="2991876" cy="9610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5606" b="0" i="0" u="none" strike="noStrike" cap="none" spc="172">
                <a:solidFill>
                  <a:srgbClr val="0A2043"/>
                </a:solidFill>
                <a:latin typeface="Times New Roman"/>
                <a:ea typeface="Times New Roman"/>
                <a:cs typeface="Times New Roman"/>
                <a:sym typeface="Times New Roman"/>
              </a:rPr>
              <a:t>YONSEI</a:t>
            </a:r>
            <a:endParaRPr/>
          </a:p>
        </p:txBody>
      </p:sp>
      <p:sp>
        <p:nvSpPr>
          <p:cNvPr id="91" name="Google Shape;91;p1"/>
          <p:cNvSpPr txBox="1"/>
          <p:nvPr/>
        </p:nvSpPr>
        <p:spPr>
          <a:xfrm>
            <a:off x="6227043" y="2554448"/>
            <a:ext cx="5011404" cy="415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23" b="0" i="0" u="none" strike="noStrike" cap="none" spc="223">
                <a:solidFill>
                  <a:srgbClr val="0A2043"/>
                </a:solidFill>
                <a:latin typeface="Times New Roman"/>
                <a:ea typeface="Times New Roman"/>
                <a:cs typeface="Times New Roman"/>
                <a:sym typeface="Times New Roman"/>
              </a:rPr>
              <a:t>DOUBLE DEGREE PROGRAM</a:t>
            </a:r>
            <a:endParaRPr/>
          </a:p>
        </p:txBody>
      </p:sp>
      <p:sp>
        <p:nvSpPr>
          <p:cNvPr id="92" name="Google Shape;92;p1"/>
          <p:cNvSpPr txBox="1"/>
          <p:nvPr/>
        </p:nvSpPr>
        <p:spPr>
          <a:xfrm>
            <a:off x="7385896" y="2974586"/>
            <a:ext cx="2743062" cy="41568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423" b="0" i="0" u="none" strike="noStrike" cap="none" spc="223">
                <a:solidFill>
                  <a:srgbClr val="0A2043"/>
                </a:solidFill>
                <a:latin typeface="Times New Roman"/>
                <a:ea typeface="Times New Roman"/>
                <a:cs typeface="Times New Roman"/>
                <a:sym typeface="Times New Roman"/>
              </a:rPr>
              <a:t>IN ECONOMICS</a:t>
            </a:r>
            <a:endParaRPr/>
          </a:p>
        </p:txBody>
      </p:sp>
      <p:sp>
        <p:nvSpPr>
          <p:cNvPr id="93" name="Google Shape;93;p1"/>
          <p:cNvSpPr/>
          <p:nvPr/>
        </p:nvSpPr>
        <p:spPr>
          <a:xfrm>
            <a:off x="6557243" y="3576334"/>
            <a:ext cx="1997710" cy="14859"/>
          </a:xfrm>
          <a:prstGeom prst="rect">
            <a:avLst/>
          </a:prstGeom>
          <a:solidFill>
            <a:srgbClr val="B28D5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4" name="Google Shape;94;p1"/>
          <p:cNvSpPr/>
          <p:nvPr/>
        </p:nvSpPr>
        <p:spPr>
          <a:xfrm>
            <a:off x="8852133" y="3576334"/>
            <a:ext cx="1997710" cy="14859"/>
          </a:xfrm>
          <a:prstGeom prst="rect">
            <a:avLst/>
          </a:prstGeom>
          <a:solidFill>
            <a:srgbClr val="B28D5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
          <p:cNvSpPr/>
          <p:nvPr/>
        </p:nvSpPr>
        <p:spPr>
          <a:xfrm>
            <a:off x="8655664" y="3536710"/>
            <a:ext cx="95758" cy="95758"/>
          </a:xfrm>
          <a:prstGeom prst="diamond">
            <a:avLst/>
          </a:prstGeom>
          <a:solidFill>
            <a:srgbClr val="B28D50"/>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6" name="Google Shape;96;p1"/>
          <p:cNvSpPr txBox="1"/>
          <p:nvPr/>
        </p:nvSpPr>
        <p:spPr>
          <a:xfrm>
            <a:off x="6724254" y="3774454"/>
            <a:ext cx="4007002" cy="18677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89" b="0" i="0" u="none" strike="noStrike" cap="none" spc="184">
                <a:solidFill>
                  <a:srgbClr val="B28D50"/>
                </a:solidFill>
                <a:latin typeface="Times New Roman"/>
                <a:ea typeface="Times New Roman"/>
                <a:cs typeface="Times New Roman"/>
                <a:sym typeface="Times New Roman"/>
              </a:rPr>
              <a:t>A GLOBAL PATHWAY IN ECONOMIC STUDY</a:t>
            </a:r>
            <a:endParaRPr/>
          </a:p>
        </p:txBody>
      </p:sp>
      <p:sp>
        <p:nvSpPr>
          <p:cNvPr id="97" name="Google Shape;97;p1"/>
          <p:cNvSpPr txBox="1"/>
          <p:nvPr/>
        </p:nvSpPr>
        <p:spPr>
          <a:xfrm>
            <a:off x="8358018" y="4247251"/>
            <a:ext cx="2867097" cy="1738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14" b="0" i="0" u="none" strike="noStrike" cap="none" spc="124">
                <a:solidFill>
                  <a:srgbClr val="4E658D"/>
                </a:solidFill>
                <a:latin typeface="Times New Roman"/>
                <a:ea typeface="Times New Roman"/>
                <a:cs typeface="Times New Roman"/>
                <a:sym typeface="Times New Roman"/>
              </a:rPr>
              <a:t>2027/28  ·  ADMISSIONS GUIDELINES</a:t>
            </a:r>
            <a:endParaRPr/>
          </a:p>
        </p:txBody>
      </p:sp>
      <p:pic>
        <p:nvPicPr>
          <p:cNvPr id="98" name="Google Shape;98;p1" descr="lse_logo.png"/>
          <p:cNvPicPr preferRelativeResize="0"/>
          <p:nvPr/>
        </p:nvPicPr>
        <p:blipFill rotWithShape="1">
          <a:blip r:embed="rId4">
            <a:alphaModFix/>
          </a:blip>
          <a:srcRect/>
          <a:stretch/>
        </p:blipFill>
        <p:spPr>
          <a:xfrm>
            <a:off x="9363943" y="4642996"/>
            <a:ext cx="693420" cy="693420"/>
          </a:xfrm>
          <a:prstGeom prst="rect">
            <a:avLst/>
          </a:prstGeom>
          <a:noFill/>
          <a:ln>
            <a:noFill/>
          </a:ln>
        </p:spPr>
      </p:pic>
      <p:pic>
        <p:nvPicPr>
          <p:cNvPr id="99" name="Google Shape;99;p1" descr="yonsei_logo.png"/>
          <p:cNvPicPr preferRelativeResize="0"/>
          <p:nvPr/>
        </p:nvPicPr>
        <p:blipFill rotWithShape="1">
          <a:blip r:embed="rId5">
            <a:alphaModFix/>
          </a:blip>
          <a:srcRect/>
          <a:stretch/>
        </p:blipFill>
        <p:spPr>
          <a:xfrm>
            <a:off x="10288503" y="4642996"/>
            <a:ext cx="693420" cy="6934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Why LSE–Yonsei?</a:t>
            </a:r>
            <a:endParaRPr/>
          </a:p>
        </p:txBody>
      </p:sp>
      <p:sp>
        <p:nvSpPr>
          <p:cNvPr id="106" name="Google Shape;106;p2"/>
          <p:cNvSpPr txBox="1"/>
          <p:nvPr/>
        </p:nvSpPr>
        <p:spPr>
          <a:xfrm>
            <a:off x="648000" y="900000"/>
            <a:ext cx="10896012" cy="828000"/>
          </a:xfrm>
          <a:prstGeom prst="rect">
            <a:avLst/>
          </a:prstGeom>
          <a:noFill/>
          <a:ln>
            <a:noFill/>
          </a:ln>
        </p:spPr>
        <p:txBody>
          <a:bodyPr spcFirstLastPara="1" wrap="square" lIns="0" tIns="0" rIns="0" bIns="0" anchor="t" anchorCtr="0">
            <a:spAutoFit/>
          </a:bodyPr>
          <a:lstStyle/>
          <a:p>
            <a:pPr marL="0" marR="0" lvl="0" indent="0" algn="l" rtl="0">
              <a:lnSpc>
                <a:spcPct val="138060"/>
              </a:lnSpc>
              <a:spcBef>
                <a:spcPts val="0"/>
              </a:spcBef>
              <a:spcAft>
                <a:spcPts val="0"/>
              </a:spcAft>
              <a:buNone/>
            </a:pPr>
            <a:r>
              <a:rPr lang="en-US" sz="1800" b="1" i="0" u="none" strike="noStrike" cap="none">
                <a:solidFill>
                  <a:srgbClr val="231F20"/>
                </a:solidFill>
                <a:latin typeface="Arial"/>
                <a:ea typeface="Arial"/>
                <a:cs typeface="Arial"/>
                <a:sym typeface="Arial"/>
              </a:rPr>
              <a:t>Study economics at two leading universities, in two global cities.</a:t>
            </a:r>
            <a:endParaRPr/>
          </a:p>
          <a:p>
            <a:pPr marL="0" marR="0" lvl="0" indent="0" algn="l" rtl="0">
              <a:spcBef>
                <a:spcPts val="600"/>
              </a:spcBef>
              <a:spcAft>
                <a:spcPts val="0"/>
              </a:spcAft>
              <a:buNone/>
            </a:pPr>
            <a:r>
              <a:rPr lang="en-US" sz="1300" b="0" i="0" u="none" strike="noStrike" cap="none">
                <a:solidFill>
                  <a:srgbClr val="4F4C4D"/>
                </a:solidFill>
                <a:latin typeface="Arial"/>
                <a:ea typeface="Arial"/>
                <a:cs typeface="Arial"/>
                <a:sym typeface="Arial"/>
              </a:rPr>
              <a:t>Yonsei brings the perspective of one of Asia’s foremost universities in Seoul. LSE brings a world-leading economics department at the heart of London’s finance and policy networks. Over two years, students study in both departments and graduate with two master’s degrees.</a:t>
            </a:r>
            <a:endParaRPr/>
          </a:p>
        </p:txBody>
      </p:sp>
      <p:sp>
        <p:nvSpPr>
          <p:cNvPr id="107" name="Google Shape;107;p2"/>
          <p:cNvSpPr/>
          <p:nvPr/>
        </p:nvSpPr>
        <p:spPr>
          <a:xfrm>
            <a:off x="648000" y="1944000"/>
            <a:ext cx="3744000" cy="1866683"/>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8" name="Google Shape;108;p2"/>
          <p:cNvSpPr/>
          <p:nvPr/>
        </p:nvSpPr>
        <p:spPr>
          <a:xfrm>
            <a:off x="648000" y="1944000"/>
            <a:ext cx="3744000"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9" name="Google Shape;109;p2"/>
          <p:cNvSpPr txBox="1"/>
          <p:nvPr/>
        </p:nvSpPr>
        <p:spPr>
          <a:xfrm>
            <a:off x="853200" y="2160000"/>
            <a:ext cx="3333600" cy="187200"/>
          </a:xfrm>
          <a:prstGeom prst="rect">
            <a:avLst/>
          </a:prstGeom>
          <a:noFill/>
          <a:ln>
            <a:noFill/>
          </a:ln>
        </p:spPr>
        <p:txBody>
          <a:bodyPr spcFirstLastPara="1" wrap="square" lIns="0" tIns="0" rIns="0" bIns="0" anchor="t" anchorCtr="0">
            <a:spAutoFit/>
          </a:bodyPr>
          <a:lstStyle/>
          <a:p>
            <a:pPr marL="0" marR="0" lvl="0" indent="0" algn="l" rtl="0">
              <a:lnSpc>
                <a:spcPct val="128700"/>
              </a:lnSpc>
              <a:spcBef>
                <a:spcPts val="0"/>
              </a:spcBef>
              <a:spcAft>
                <a:spcPts val="0"/>
              </a:spcAft>
              <a:buNone/>
            </a:pPr>
            <a:r>
              <a:rPr lang="en-US" sz="1000" b="1" i="0" u="none" strike="noStrike" cap="none" spc="70">
                <a:solidFill>
                  <a:srgbClr val="133267"/>
                </a:solidFill>
                <a:latin typeface="Arial Narrow"/>
                <a:ea typeface="Arial Narrow"/>
                <a:cs typeface="Arial Narrow"/>
                <a:sym typeface="Arial Narrow"/>
              </a:rPr>
              <a:t>YONSEI UNIVERSITY  ·  SEOUL</a:t>
            </a:r>
            <a:endParaRPr/>
          </a:p>
        </p:txBody>
      </p:sp>
      <p:sp>
        <p:nvSpPr>
          <p:cNvPr id="110" name="Google Shape;110;p2"/>
          <p:cNvSpPr txBox="1"/>
          <p:nvPr/>
        </p:nvSpPr>
        <p:spPr>
          <a:xfrm>
            <a:off x="853200" y="2394000"/>
            <a:ext cx="3333600" cy="45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rgbClr val="133267"/>
                </a:solidFill>
                <a:latin typeface="Arial Narrow"/>
                <a:ea typeface="Arial Narrow"/>
                <a:cs typeface="Arial Narrow"/>
                <a:sym typeface="Arial Narrow"/>
              </a:rPr>
              <a:t>Leading in Asia</a:t>
            </a:r>
            <a:endParaRPr/>
          </a:p>
        </p:txBody>
      </p:sp>
      <p:sp>
        <p:nvSpPr>
          <p:cNvPr id="111" name="Google Shape;111;p2"/>
          <p:cNvSpPr txBox="1"/>
          <p:nvPr/>
        </p:nvSpPr>
        <p:spPr>
          <a:xfrm>
            <a:off x="853200" y="3006000"/>
            <a:ext cx="3333600" cy="19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 b="1" i="0" u="none" strike="noStrike" cap="none">
                <a:solidFill>
                  <a:srgbClr val="231F20"/>
                </a:solidFill>
                <a:latin typeface="Arial"/>
                <a:ea typeface="Arial"/>
                <a:cs typeface="Arial"/>
                <a:sym typeface="Arial"/>
              </a:rPr>
              <a:t>QS global top 50 university</a:t>
            </a:r>
            <a:endParaRPr/>
          </a:p>
        </p:txBody>
      </p:sp>
      <p:sp>
        <p:nvSpPr>
          <p:cNvPr id="112" name="Google Shape;112;p2"/>
          <p:cNvSpPr/>
          <p:nvPr/>
        </p:nvSpPr>
        <p:spPr>
          <a:xfrm>
            <a:off x="853200" y="3312000"/>
            <a:ext cx="3333600"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3" name="Google Shape;113;p2"/>
          <p:cNvSpPr txBox="1"/>
          <p:nvPr/>
        </p:nvSpPr>
        <p:spPr>
          <a:xfrm>
            <a:off x="853200" y="3420000"/>
            <a:ext cx="3333600" cy="18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0" i="0" u="none" strike="noStrike" cap="none">
                <a:solidFill>
                  <a:srgbClr val="4F4C4D"/>
                </a:solidFill>
                <a:latin typeface="Arial"/>
                <a:ea typeface="Arial"/>
                <a:cs typeface="Arial"/>
                <a:sym typeface="Arial"/>
              </a:rPr>
              <a:t>42nd overall in QS World University Rankings 2027</a:t>
            </a:r>
            <a:endParaRPr/>
          </a:p>
        </p:txBody>
      </p:sp>
      <p:sp>
        <p:nvSpPr>
          <p:cNvPr id="114" name="Google Shape;114;p2"/>
          <p:cNvSpPr/>
          <p:nvPr/>
        </p:nvSpPr>
        <p:spPr>
          <a:xfrm>
            <a:off x="648000" y="4026683"/>
            <a:ext cx="3744000" cy="1866683"/>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5" name="Google Shape;115;p2"/>
          <p:cNvSpPr/>
          <p:nvPr/>
        </p:nvSpPr>
        <p:spPr>
          <a:xfrm>
            <a:off x="648000" y="4026683"/>
            <a:ext cx="3744000"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6" name="Google Shape;116;p2"/>
          <p:cNvSpPr txBox="1"/>
          <p:nvPr/>
        </p:nvSpPr>
        <p:spPr>
          <a:xfrm>
            <a:off x="853200" y="4242683"/>
            <a:ext cx="3333600" cy="187200"/>
          </a:xfrm>
          <a:prstGeom prst="rect">
            <a:avLst/>
          </a:prstGeom>
          <a:noFill/>
          <a:ln>
            <a:noFill/>
          </a:ln>
        </p:spPr>
        <p:txBody>
          <a:bodyPr spcFirstLastPara="1" wrap="square" lIns="0" tIns="0" rIns="0" bIns="0" anchor="t" anchorCtr="0">
            <a:spAutoFit/>
          </a:bodyPr>
          <a:lstStyle/>
          <a:p>
            <a:pPr marL="0" marR="0" lvl="0" indent="0" algn="l" rtl="0">
              <a:lnSpc>
                <a:spcPct val="128700"/>
              </a:lnSpc>
              <a:spcBef>
                <a:spcPts val="0"/>
              </a:spcBef>
              <a:spcAft>
                <a:spcPts val="0"/>
              </a:spcAft>
              <a:buNone/>
            </a:pPr>
            <a:r>
              <a:rPr lang="en-US" sz="1000" b="1" i="0" u="none" strike="noStrike" cap="none" spc="70">
                <a:solidFill>
                  <a:srgbClr val="A4243B"/>
                </a:solidFill>
                <a:latin typeface="Arial Narrow"/>
                <a:ea typeface="Arial Narrow"/>
                <a:cs typeface="Arial Narrow"/>
                <a:sym typeface="Arial Narrow"/>
              </a:rPr>
              <a:t>LONDON SCHOOL OF ECONOMICS  ·  LONDON</a:t>
            </a:r>
            <a:endParaRPr/>
          </a:p>
        </p:txBody>
      </p:sp>
      <p:sp>
        <p:nvSpPr>
          <p:cNvPr id="117" name="Google Shape;117;p2"/>
          <p:cNvSpPr txBox="1"/>
          <p:nvPr/>
        </p:nvSpPr>
        <p:spPr>
          <a:xfrm>
            <a:off x="853200" y="4476683"/>
            <a:ext cx="3333600" cy="45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rgbClr val="133267"/>
                </a:solidFill>
                <a:latin typeface="Arial Narrow"/>
                <a:ea typeface="Arial Narrow"/>
                <a:cs typeface="Arial Narrow"/>
                <a:sym typeface="Arial Narrow"/>
              </a:rPr>
              <a:t>World-leading</a:t>
            </a:r>
            <a:endParaRPr/>
          </a:p>
        </p:txBody>
      </p:sp>
      <p:sp>
        <p:nvSpPr>
          <p:cNvPr id="118" name="Google Shape;118;p2"/>
          <p:cNvSpPr txBox="1"/>
          <p:nvPr/>
        </p:nvSpPr>
        <p:spPr>
          <a:xfrm>
            <a:off x="853200" y="5088683"/>
            <a:ext cx="3333600" cy="198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00" b="1" i="0" u="none" strike="noStrike" cap="none">
                <a:solidFill>
                  <a:srgbClr val="231F20"/>
                </a:solidFill>
                <a:latin typeface="Arial"/>
                <a:ea typeface="Arial"/>
                <a:cs typeface="Arial"/>
                <a:sym typeface="Arial"/>
              </a:rPr>
              <a:t>Top 10 for Economics and Econometrics</a:t>
            </a:r>
            <a:endParaRPr/>
          </a:p>
        </p:txBody>
      </p:sp>
      <p:sp>
        <p:nvSpPr>
          <p:cNvPr id="119" name="Google Shape;119;p2"/>
          <p:cNvSpPr/>
          <p:nvPr/>
        </p:nvSpPr>
        <p:spPr>
          <a:xfrm>
            <a:off x="853200" y="5394683"/>
            <a:ext cx="3333600"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0" name="Google Shape;120;p2"/>
          <p:cNvSpPr txBox="1"/>
          <p:nvPr/>
        </p:nvSpPr>
        <p:spPr>
          <a:xfrm>
            <a:off x="853200" y="5502683"/>
            <a:ext cx="3333600" cy="180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 b="0" i="0" u="none" strike="noStrike" cap="none">
                <a:solidFill>
                  <a:srgbClr val="4F4C4D"/>
                </a:solidFill>
                <a:latin typeface="Arial"/>
                <a:ea typeface="Arial"/>
                <a:cs typeface="Arial"/>
                <a:sym typeface="Arial"/>
              </a:rPr>
              <a:t>6th in QS World University Rankings by Subject 2026</a:t>
            </a:r>
            <a:endParaRPr/>
          </a:p>
        </p:txBody>
      </p:sp>
      <p:sp>
        <p:nvSpPr>
          <p:cNvPr id="121" name="Google Shape;121;p2"/>
          <p:cNvSpPr txBox="1"/>
          <p:nvPr/>
        </p:nvSpPr>
        <p:spPr>
          <a:xfrm>
            <a:off x="648000" y="5965365"/>
            <a:ext cx="3744000" cy="378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850" b="0" i="0" u="none" strike="noStrike" cap="none">
                <a:solidFill>
                  <a:srgbClr val="4F4C4D"/>
                </a:solidFill>
                <a:latin typeface="Arial"/>
                <a:ea typeface="Arial"/>
                <a:cs typeface="Arial"/>
                <a:sym typeface="Arial"/>
              </a:rPr>
              <a:t>Sources: QS World University Rankings 2027; QS World University Rankings by Subject 2026 (Economics &amp; Econometrics).</a:t>
            </a:r>
            <a:endParaRPr/>
          </a:p>
        </p:txBody>
      </p:sp>
      <p:pic>
        <p:nvPicPr>
          <p:cNvPr id="122" name="Google Shape;122;p2" descr="daewoo_hall_696x517_5030.jpg"/>
          <p:cNvPicPr preferRelativeResize="0"/>
          <p:nvPr/>
        </p:nvPicPr>
        <p:blipFill rotWithShape="1">
          <a:blip r:embed="rId3">
            <a:alphaModFix/>
          </a:blip>
          <a:srcRect/>
          <a:stretch/>
        </p:blipFill>
        <p:spPr>
          <a:xfrm>
            <a:off x="4680000" y="1944000"/>
            <a:ext cx="3288006" cy="2437365"/>
          </a:xfrm>
          <a:prstGeom prst="rect">
            <a:avLst/>
          </a:prstGeom>
          <a:noFill/>
          <a:ln>
            <a:noFill/>
          </a:ln>
        </p:spPr>
      </p:pic>
      <p:sp>
        <p:nvSpPr>
          <p:cNvPr id="123" name="Google Shape;123;p2"/>
          <p:cNvSpPr/>
          <p:nvPr/>
        </p:nvSpPr>
        <p:spPr>
          <a:xfrm>
            <a:off x="4680000" y="4381365"/>
            <a:ext cx="3288006" cy="1512000"/>
          </a:xfrm>
          <a:prstGeom prst="rect">
            <a:avLst/>
          </a:prstGeom>
          <a:solidFill>
            <a:srgbClr val="EAEEF5"/>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050" b="1" i="0" u="none" strike="noStrike" cap="none" spc="80">
                <a:solidFill>
                  <a:srgbClr val="133267"/>
                </a:solidFill>
                <a:latin typeface="Arial Narrow"/>
                <a:ea typeface="Arial Narrow"/>
                <a:cs typeface="Arial Narrow"/>
                <a:sym typeface="Arial Narrow"/>
              </a:rPr>
              <a:t>YEAR 1  ·  SEOUL</a:t>
            </a:r>
            <a:endParaRPr/>
          </a:p>
          <a:p>
            <a:pPr marL="0" marR="0" lvl="0" indent="0" algn="l" rtl="0">
              <a:lnSpc>
                <a:spcPct val="152100"/>
              </a:lnSpc>
              <a:spcBef>
                <a:spcPts val="600"/>
              </a:spcBef>
              <a:spcAft>
                <a:spcPts val="0"/>
              </a:spcAft>
              <a:buNone/>
            </a:pPr>
            <a:r>
              <a:rPr lang="en-US" sz="1300" b="1" i="0" u="none" strike="noStrike" cap="none">
                <a:solidFill>
                  <a:srgbClr val="133267"/>
                </a:solidFill>
                <a:latin typeface="Arial"/>
                <a:ea typeface="Arial"/>
                <a:cs typeface="Arial"/>
                <a:sym typeface="Arial"/>
              </a:rPr>
              <a:t>Yonsei University</a:t>
            </a:r>
            <a:endParaRPr/>
          </a:p>
          <a:p>
            <a:pPr marL="0" marR="0" lvl="0" indent="0" algn="l" rtl="0">
              <a:lnSpc>
                <a:spcPct val="152100"/>
              </a:lnSpc>
              <a:spcBef>
                <a:spcPts val="200"/>
              </a:spcBef>
              <a:spcAft>
                <a:spcPts val="0"/>
              </a:spcAft>
              <a:buNone/>
            </a:pPr>
            <a:r>
              <a:rPr lang="en-US" sz="1050" b="0" i="0" u="none" strike="noStrike" cap="none">
                <a:solidFill>
                  <a:srgbClr val="4F4C4D"/>
                </a:solidFill>
                <a:latin typeface="Arial"/>
                <a:ea typeface="Arial"/>
                <a:cs typeface="Arial"/>
                <a:sym typeface="Arial"/>
              </a:rPr>
              <a:t>Graduate School of Economics</a:t>
            </a:r>
            <a:endParaRPr/>
          </a:p>
        </p:txBody>
      </p:sp>
      <p:sp>
        <p:nvSpPr>
          <p:cNvPr id="124" name="Google Shape;124;p2"/>
          <p:cNvSpPr/>
          <p:nvPr/>
        </p:nvSpPr>
        <p:spPr>
          <a:xfrm>
            <a:off x="4680000" y="4381365"/>
            <a:ext cx="3288006"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2"/>
          <p:cNvSpPr/>
          <p:nvPr/>
        </p:nvSpPr>
        <p:spPr>
          <a:xfrm>
            <a:off x="8256006" y="4381365"/>
            <a:ext cx="3288006" cy="1512000"/>
          </a:xfrm>
          <a:prstGeom prst="rect">
            <a:avLst/>
          </a:prstGeom>
          <a:solidFill>
            <a:srgbClr val="F6EBEE"/>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050" b="1" i="0" u="none" strike="noStrike" cap="none" spc="80">
                <a:solidFill>
                  <a:srgbClr val="A4243B"/>
                </a:solidFill>
                <a:latin typeface="Arial Narrow"/>
                <a:ea typeface="Arial Narrow"/>
                <a:cs typeface="Arial Narrow"/>
                <a:sym typeface="Arial Narrow"/>
              </a:rPr>
              <a:t>YEAR 2  ·  LONDON</a:t>
            </a:r>
            <a:endParaRPr/>
          </a:p>
          <a:p>
            <a:pPr marL="0" marR="0" lvl="0" indent="0" algn="l" rtl="0">
              <a:lnSpc>
                <a:spcPct val="152100"/>
              </a:lnSpc>
              <a:spcBef>
                <a:spcPts val="600"/>
              </a:spcBef>
              <a:spcAft>
                <a:spcPts val="0"/>
              </a:spcAft>
              <a:buNone/>
            </a:pPr>
            <a:r>
              <a:rPr lang="en-US" sz="1300" b="1" i="0" u="none" strike="noStrike" cap="none">
                <a:solidFill>
                  <a:srgbClr val="133267"/>
                </a:solidFill>
                <a:latin typeface="Arial"/>
                <a:ea typeface="Arial"/>
                <a:cs typeface="Arial"/>
                <a:sym typeface="Arial"/>
              </a:rPr>
              <a:t>London School of Economics and Political Science</a:t>
            </a:r>
            <a:endParaRPr sz="1300" b="1" i="0" u="none" strike="noStrike" cap="none">
              <a:solidFill>
                <a:srgbClr val="133267"/>
              </a:solidFill>
              <a:latin typeface="Arial"/>
              <a:ea typeface="Arial"/>
              <a:cs typeface="Arial"/>
              <a:sym typeface="Arial"/>
            </a:endParaRPr>
          </a:p>
          <a:p>
            <a:pPr marL="0" marR="0" lvl="0" indent="0" algn="l" rtl="0">
              <a:lnSpc>
                <a:spcPct val="152100"/>
              </a:lnSpc>
              <a:spcBef>
                <a:spcPts val="200"/>
              </a:spcBef>
              <a:spcAft>
                <a:spcPts val="0"/>
              </a:spcAft>
              <a:buNone/>
            </a:pPr>
            <a:r>
              <a:rPr lang="en-US" sz="1050" b="0" i="0" u="none" strike="noStrike" cap="none">
                <a:solidFill>
                  <a:srgbClr val="4F4C4D"/>
                </a:solidFill>
                <a:latin typeface="Arial"/>
                <a:ea typeface="Arial"/>
                <a:cs typeface="Arial"/>
                <a:sym typeface="Arial"/>
              </a:rPr>
              <a:t>Department of Economics</a:t>
            </a:r>
            <a:endParaRPr/>
          </a:p>
        </p:txBody>
      </p:sp>
      <p:sp>
        <p:nvSpPr>
          <p:cNvPr id="126" name="Google Shape;126;p2"/>
          <p:cNvSpPr/>
          <p:nvPr/>
        </p:nvSpPr>
        <p:spPr>
          <a:xfrm>
            <a:off x="8256006" y="4381365"/>
            <a:ext cx="3288006"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7" name="Google Shape;127;p2"/>
          <p:cNvSpPr txBox="1"/>
          <p:nvPr/>
        </p:nvSpPr>
        <p:spPr>
          <a:xfrm>
            <a:off x="4680000" y="5947365"/>
            <a:ext cx="3288006" cy="144000"/>
          </a:xfrm>
          <a:prstGeom prst="rect">
            <a:avLst/>
          </a:prstGeom>
          <a:noFill/>
          <a:ln>
            <a:noFill/>
          </a:ln>
        </p:spPr>
        <p:txBody>
          <a:bodyPr spcFirstLastPara="1" wrap="square" lIns="0" tIns="0" rIns="0" bIns="0" anchor="t" anchorCtr="0">
            <a:spAutoFit/>
          </a:bodyPr>
          <a:lstStyle/>
          <a:p>
            <a:pPr marL="0" marR="0" lvl="0" indent="0" algn="ctr" rtl="0">
              <a:lnSpc>
                <a:spcPct val="152100"/>
              </a:lnSpc>
              <a:spcBef>
                <a:spcPts val="0"/>
              </a:spcBef>
              <a:spcAft>
                <a:spcPts val="0"/>
              </a:spcAft>
              <a:buNone/>
            </a:pPr>
            <a:r>
              <a:rPr lang="en-US" sz="700" b="0" i="0" u="none" strike="noStrike" cap="none">
                <a:solidFill>
                  <a:srgbClr val="8C8A8B"/>
                </a:solidFill>
                <a:latin typeface="Arial"/>
                <a:ea typeface="Arial"/>
                <a:cs typeface="Arial"/>
                <a:sym typeface="Arial"/>
              </a:rPr>
              <a:t>Daewoo Hall, home of the Graduate School of Economics, Yonsei University</a:t>
            </a:r>
            <a:endParaRPr/>
          </a:p>
        </p:txBody>
      </p:sp>
      <p:sp>
        <p:nvSpPr>
          <p:cNvPr id="128" name="Google Shape;128;p2"/>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01</a:t>
            </a:r>
            <a:endParaRPr/>
          </a:p>
        </p:txBody>
      </p:sp>
      <p:pic>
        <p:nvPicPr>
          <p:cNvPr id="129" name="Google Shape;129;p2"/>
          <p:cNvPicPr preferRelativeResize="0"/>
          <p:nvPr/>
        </p:nvPicPr>
        <p:blipFill rotWithShape="1">
          <a:blip r:embed="rId4">
            <a:alphaModFix/>
          </a:blip>
          <a:srcRect/>
          <a:stretch/>
        </p:blipFill>
        <p:spPr>
          <a:xfrm>
            <a:off x="8256006" y="1944000"/>
            <a:ext cx="3288006" cy="2437365"/>
          </a:xfrm>
          <a:prstGeom prst="rect">
            <a:avLst/>
          </a:prstGeom>
          <a:noFill/>
          <a:ln>
            <a:noFill/>
          </a:ln>
        </p:spPr>
      </p:pic>
      <p:sp>
        <p:nvSpPr>
          <p:cNvPr id="130" name="Google Shape;130;p2"/>
          <p:cNvSpPr txBox="1"/>
          <p:nvPr/>
        </p:nvSpPr>
        <p:spPr>
          <a:xfrm>
            <a:off x="8256006" y="5947365"/>
            <a:ext cx="3288006" cy="144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700" b="0" i="0" u="none" strike="noStrike" cap="none">
                <a:solidFill>
                  <a:srgbClr val="8C8A8B"/>
                </a:solidFill>
                <a:latin typeface="Arial"/>
                <a:ea typeface="Arial"/>
                <a:cs typeface="Arial"/>
                <a:sym typeface="Arial"/>
              </a:rPr>
              <a:t>Sir Arthur Lewis Building, home of the Department of Economics, LSE</a:t>
            </a:r>
            <a:endParaRPr sz="700" b="0" i="0" u="none" strike="noStrike" cap="none">
              <a:solidFill>
                <a:srgbClr val="8C8A8B"/>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
          <p:cNvSpPr/>
          <p:nvPr/>
        </p:nvSpPr>
        <p:spPr>
          <a:xfrm>
            <a:off x="0" y="0"/>
            <a:ext cx="12192012" cy="6858000"/>
          </a:xfrm>
          <a:prstGeom prst="rect">
            <a:avLst/>
          </a:prstGeom>
          <a:solidFill>
            <a:srgbClr val="FFFFFF"/>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37" name="Google Shape;137;p3" descr="main_building_1693x1254_5030.jpg"/>
          <p:cNvPicPr preferRelativeResize="0"/>
          <p:nvPr/>
        </p:nvPicPr>
        <p:blipFill rotWithShape="1">
          <a:blip r:embed="rId3">
            <a:alphaModFix/>
          </a:blip>
          <a:srcRect l="16810" r="16810"/>
          <a:stretch/>
        </p:blipFill>
        <p:spPr>
          <a:xfrm>
            <a:off x="6048000" y="0"/>
            <a:ext cx="6144012" cy="6858000"/>
          </a:xfrm>
          <a:prstGeom prst="rect">
            <a:avLst/>
          </a:prstGeom>
          <a:noFill/>
          <a:ln>
            <a:noFill/>
          </a:ln>
        </p:spPr>
      </p:pic>
      <p:sp>
        <p:nvSpPr>
          <p:cNvPr id="138" name="Google Shape;138;p3"/>
          <p:cNvSpPr txBox="1"/>
          <p:nvPr/>
        </p:nvSpPr>
        <p:spPr>
          <a:xfrm>
            <a:off x="648000" y="576000"/>
            <a:ext cx="4968000" cy="1152000"/>
          </a:xfrm>
          <a:prstGeom prst="rect">
            <a:avLst/>
          </a:prstGeom>
          <a:noFill/>
          <a:ln>
            <a:noFill/>
          </a:ln>
        </p:spPr>
        <p:txBody>
          <a:bodyPr spcFirstLastPara="1" wrap="square" lIns="0" tIns="0" rIns="0" bIns="0" anchor="t" anchorCtr="0">
            <a:spAutoFit/>
          </a:bodyPr>
          <a:lstStyle/>
          <a:p>
            <a:pPr marL="0" marR="0" lvl="0" indent="0" algn="l" rtl="0">
              <a:lnSpc>
                <a:spcPct val="134550"/>
              </a:lnSpc>
              <a:spcBef>
                <a:spcPts val="0"/>
              </a:spcBef>
              <a:spcAft>
                <a:spcPts val="0"/>
              </a:spcAft>
              <a:buNone/>
            </a:pPr>
            <a:r>
              <a:rPr lang="en-US" sz="2900" b="1" i="0" u="none" strike="noStrike" cap="none">
                <a:solidFill>
                  <a:srgbClr val="133267"/>
                </a:solidFill>
                <a:latin typeface="Times New Roman"/>
                <a:ea typeface="Times New Roman"/>
                <a:cs typeface="Times New Roman"/>
                <a:sym typeface="Times New Roman"/>
              </a:rPr>
              <a:t>Seoul and London.</a:t>
            </a:r>
            <a:endParaRPr/>
          </a:p>
          <a:p>
            <a:pPr marL="0" marR="0" lvl="0" indent="0" algn="l" rtl="0">
              <a:lnSpc>
                <a:spcPct val="134550"/>
              </a:lnSpc>
              <a:spcBef>
                <a:spcPts val="0"/>
              </a:spcBef>
              <a:spcAft>
                <a:spcPts val="0"/>
              </a:spcAft>
              <a:buNone/>
            </a:pPr>
            <a:r>
              <a:rPr lang="en-US" sz="2900" b="1" i="0" u="none" strike="noStrike" cap="none">
                <a:solidFill>
                  <a:srgbClr val="133267"/>
                </a:solidFill>
                <a:latin typeface="Times New Roman"/>
                <a:ea typeface="Times New Roman"/>
                <a:cs typeface="Times New Roman"/>
                <a:sym typeface="Times New Roman"/>
              </a:rPr>
              <a:t>Two degrees. One economist.</a:t>
            </a:r>
            <a:endParaRPr/>
          </a:p>
        </p:txBody>
      </p:sp>
      <p:sp>
        <p:nvSpPr>
          <p:cNvPr id="139" name="Google Shape;139;p3"/>
          <p:cNvSpPr txBox="1"/>
          <p:nvPr/>
        </p:nvSpPr>
        <p:spPr>
          <a:xfrm>
            <a:off x="648000" y="6174000"/>
            <a:ext cx="4968000" cy="169200"/>
          </a:xfrm>
          <a:prstGeom prst="rect">
            <a:avLst/>
          </a:prstGeom>
          <a:noFill/>
          <a:ln>
            <a:noFill/>
          </a:ln>
        </p:spPr>
        <p:txBody>
          <a:bodyPr spcFirstLastPara="1" wrap="square" lIns="0" tIns="0" rIns="0" bIns="0" anchor="t" anchorCtr="0">
            <a:spAutoFit/>
          </a:bodyPr>
          <a:lstStyle/>
          <a:p>
            <a:pPr marL="0" marR="0" lvl="0" indent="0" algn="r" rtl="0">
              <a:lnSpc>
                <a:spcPct val="152100"/>
              </a:lnSpc>
              <a:spcBef>
                <a:spcPts val="0"/>
              </a:spcBef>
              <a:spcAft>
                <a:spcPts val="0"/>
              </a:spcAft>
              <a:buNone/>
            </a:pPr>
            <a:r>
              <a:rPr lang="en-US" sz="800" b="0" i="0" u="none" strike="noStrike" cap="none">
                <a:solidFill>
                  <a:srgbClr val="8C8A8B"/>
                </a:solidFill>
                <a:latin typeface="Arial"/>
                <a:ea typeface="Arial"/>
                <a:cs typeface="Arial"/>
                <a:sym typeface="Arial"/>
              </a:rPr>
              <a:t>Seoul, from Namsan  ·  London, the Thames and Canary Wharf</a:t>
            </a:r>
            <a:endParaRPr/>
          </a:p>
        </p:txBody>
      </p:sp>
      <p:sp>
        <p:nvSpPr>
          <p:cNvPr id="140" name="Google Shape;140;p3"/>
          <p:cNvSpPr txBox="1"/>
          <p:nvPr/>
        </p:nvSpPr>
        <p:spPr>
          <a:xfrm>
            <a:off x="0" y="6498000"/>
            <a:ext cx="6048000"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02</a:t>
            </a:r>
            <a:endParaRPr/>
          </a:p>
        </p:txBody>
      </p:sp>
      <p:sp>
        <p:nvSpPr>
          <p:cNvPr id="141" name="Google Shape;141;p3"/>
          <p:cNvSpPr txBox="1"/>
          <p:nvPr/>
        </p:nvSpPr>
        <p:spPr>
          <a:xfrm>
            <a:off x="648000" y="1908000"/>
            <a:ext cx="4968000" cy="612000"/>
          </a:xfrm>
          <a:prstGeom prst="rect">
            <a:avLst/>
          </a:prstGeom>
          <a:noFill/>
          <a:ln>
            <a:noFill/>
          </a:ln>
        </p:spPr>
        <p:txBody>
          <a:bodyPr spcFirstLastPara="1" wrap="square" lIns="0" tIns="0" rIns="0" bIns="0" anchor="t" anchorCtr="0">
            <a:spAutoFit/>
          </a:bodyPr>
          <a:lstStyle/>
          <a:p>
            <a:pPr marL="0" marR="0" lvl="0" indent="0" algn="l" rtl="0">
              <a:lnSpc>
                <a:spcPct val="138000"/>
              </a:lnSpc>
              <a:spcBef>
                <a:spcPts val="0"/>
              </a:spcBef>
              <a:spcAft>
                <a:spcPts val="0"/>
              </a:spcAft>
              <a:buNone/>
            </a:pPr>
            <a:r>
              <a:rPr lang="en-US" sz="1500" b="1" i="0" u="none" strike="noStrike" cap="none">
                <a:solidFill>
                  <a:srgbClr val="133267"/>
                </a:solidFill>
                <a:latin typeface="Arial"/>
                <a:ea typeface="Arial"/>
                <a:cs typeface="Arial"/>
                <a:sym typeface="Arial"/>
              </a:rPr>
              <a:t>Everything in this programme comes in twos. What you become does not.</a:t>
            </a:r>
            <a:endParaRPr/>
          </a:p>
        </p:txBody>
      </p:sp>
      <p:sp>
        <p:nvSpPr>
          <p:cNvPr id="142" name="Google Shape;142;p3"/>
          <p:cNvSpPr txBox="1"/>
          <p:nvPr/>
        </p:nvSpPr>
        <p:spPr>
          <a:xfrm>
            <a:off x="648000" y="2808000"/>
            <a:ext cx="4968000" cy="190800"/>
          </a:xfrm>
          <a:prstGeom prst="rect">
            <a:avLst/>
          </a:prstGeom>
          <a:noFill/>
          <a:ln>
            <a:noFill/>
          </a:ln>
        </p:spPr>
        <p:txBody>
          <a:bodyPr spcFirstLastPara="1" wrap="square" lIns="0" tIns="0" rIns="0" bIns="0" anchor="t" anchorCtr="0">
            <a:spAutoFit/>
          </a:bodyPr>
          <a:lstStyle/>
          <a:p>
            <a:pPr marL="0" marR="0" lvl="0" indent="0" algn="l" rtl="0">
              <a:lnSpc>
                <a:spcPct val="128700"/>
              </a:lnSpc>
              <a:spcBef>
                <a:spcPts val="0"/>
              </a:spcBef>
              <a:spcAft>
                <a:spcPts val="0"/>
              </a:spcAft>
              <a:buNone/>
            </a:pPr>
            <a:r>
              <a:rPr lang="en-US" sz="1000" b="1" i="0" u="none" strike="noStrike" cap="none" spc="70">
                <a:solidFill>
                  <a:srgbClr val="133267"/>
                </a:solidFill>
                <a:latin typeface="Arial Narrow"/>
                <a:ea typeface="Arial Narrow"/>
                <a:cs typeface="Arial Narrow"/>
                <a:sym typeface="Arial Narrow"/>
              </a:rPr>
              <a:t>TWO DEGREES</a:t>
            </a:r>
            <a:endParaRPr/>
          </a:p>
        </p:txBody>
      </p:sp>
      <p:sp>
        <p:nvSpPr>
          <p:cNvPr id="143" name="Google Shape;143;p3"/>
          <p:cNvSpPr/>
          <p:nvPr/>
        </p:nvSpPr>
        <p:spPr>
          <a:xfrm>
            <a:off x="648000" y="3081600"/>
            <a:ext cx="4968000"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4" name="Google Shape;144;p3"/>
          <p:cNvSpPr txBox="1"/>
          <p:nvPr/>
        </p:nvSpPr>
        <p:spPr>
          <a:xfrm>
            <a:off x="648000" y="3204000"/>
            <a:ext cx="4968000" cy="5112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1150" b="0" i="0" u="none" strike="noStrike" cap="none">
                <a:solidFill>
                  <a:srgbClr val="4F4C4D"/>
                </a:solidFill>
                <a:latin typeface="Arial"/>
                <a:ea typeface="Arial"/>
                <a:cs typeface="Arial"/>
                <a:sym typeface="Arial"/>
              </a:rPr>
              <a:t>Two full master’s degrees, each awarded in its own right by the university that taught you — not a single joint award.</a:t>
            </a:r>
            <a:endParaRPr/>
          </a:p>
        </p:txBody>
      </p:sp>
      <p:sp>
        <p:nvSpPr>
          <p:cNvPr id="145" name="Google Shape;145;p3"/>
          <p:cNvSpPr txBox="1"/>
          <p:nvPr/>
        </p:nvSpPr>
        <p:spPr>
          <a:xfrm>
            <a:off x="648000" y="3924000"/>
            <a:ext cx="4968000" cy="190800"/>
          </a:xfrm>
          <a:prstGeom prst="rect">
            <a:avLst/>
          </a:prstGeom>
          <a:noFill/>
          <a:ln>
            <a:noFill/>
          </a:ln>
        </p:spPr>
        <p:txBody>
          <a:bodyPr spcFirstLastPara="1" wrap="square" lIns="0" tIns="0" rIns="0" bIns="0" anchor="t" anchorCtr="0">
            <a:spAutoFit/>
          </a:bodyPr>
          <a:lstStyle/>
          <a:p>
            <a:pPr marL="0" marR="0" lvl="0" indent="0" algn="l" rtl="0">
              <a:lnSpc>
                <a:spcPct val="128700"/>
              </a:lnSpc>
              <a:spcBef>
                <a:spcPts val="0"/>
              </a:spcBef>
              <a:spcAft>
                <a:spcPts val="0"/>
              </a:spcAft>
              <a:buNone/>
            </a:pPr>
            <a:r>
              <a:rPr lang="en-US" sz="1000" b="1" i="0" u="none" strike="noStrike" cap="none" spc="70">
                <a:solidFill>
                  <a:srgbClr val="133267"/>
                </a:solidFill>
                <a:latin typeface="Arial Narrow"/>
                <a:ea typeface="Arial Narrow"/>
                <a:cs typeface="Arial Narrow"/>
                <a:sym typeface="Arial Narrow"/>
              </a:rPr>
              <a:t>TWO CITIES</a:t>
            </a:r>
            <a:endParaRPr/>
          </a:p>
        </p:txBody>
      </p:sp>
      <p:sp>
        <p:nvSpPr>
          <p:cNvPr id="146" name="Google Shape;146;p3"/>
          <p:cNvSpPr/>
          <p:nvPr/>
        </p:nvSpPr>
        <p:spPr>
          <a:xfrm>
            <a:off x="648000" y="4197600"/>
            <a:ext cx="4968000"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7" name="Google Shape;147;p3"/>
          <p:cNvSpPr txBox="1"/>
          <p:nvPr/>
        </p:nvSpPr>
        <p:spPr>
          <a:xfrm>
            <a:off x="648000" y="4320000"/>
            <a:ext cx="4968000" cy="5112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1150" b="0" i="0" u="none" strike="noStrike" cap="none">
                <a:solidFill>
                  <a:srgbClr val="4F4C4D"/>
                </a:solidFill>
                <a:latin typeface="Arial"/>
                <a:ea typeface="Arial"/>
                <a:cs typeface="Arial"/>
                <a:sym typeface="Arial"/>
              </a:rPr>
              <a:t>A full academic year in each city, not a term abroad. Seoul first, then London — long enough to learn how each one works.</a:t>
            </a:r>
            <a:endParaRPr/>
          </a:p>
        </p:txBody>
      </p:sp>
      <p:sp>
        <p:nvSpPr>
          <p:cNvPr id="148" name="Google Shape;148;p3"/>
          <p:cNvSpPr txBox="1"/>
          <p:nvPr/>
        </p:nvSpPr>
        <p:spPr>
          <a:xfrm>
            <a:off x="648000" y="5040000"/>
            <a:ext cx="4968000" cy="190800"/>
          </a:xfrm>
          <a:prstGeom prst="rect">
            <a:avLst/>
          </a:prstGeom>
          <a:noFill/>
          <a:ln>
            <a:noFill/>
          </a:ln>
        </p:spPr>
        <p:txBody>
          <a:bodyPr spcFirstLastPara="1" wrap="square" lIns="0" tIns="0" rIns="0" bIns="0" anchor="t" anchorCtr="0">
            <a:spAutoFit/>
          </a:bodyPr>
          <a:lstStyle/>
          <a:p>
            <a:pPr marL="0" marR="0" lvl="0" indent="0" algn="l" rtl="0">
              <a:lnSpc>
                <a:spcPct val="128700"/>
              </a:lnSpc>
              <a:spcBef>
                <a:spcPts val="0"/>
              </a:spcBef>
              <a:spcAft>
                <a:spcPts val="0"/>
              </a:spcAft>
              <a:buNone/>
            </a:pPr>
            <a:r>
              <a:rPr lang="en-US" sz="1000" b="1" i="0" u="none" strike="noStrike" cap="none" spc="70">
                <a:solidFill>
                  <a:srgbClr val="133267"/>
                </a:solidFill>
                <a:latin typeface="Arial Narrow"/>
                <a:ea typeface="Arial Narrow"/>
                <a:cs typeface="Arial Narrow"/>
                <a:sym typeface="Arial Narrow"/>
              </a:rPr>
              <a:t>TWO NETWORKS</a:t>
            </a:r>
            <a:endParaRPr/>
          </a:p>
        </p:txBody>
      </p:sp>
      <p:sp>
        <p:nvSpPr>
          <p:cNvPr id="149" name="Google Shape;149;p3"/>
          <p:cNvSpPr/>
          <p:nvPr/>
        </p:nvSpPr>
        <p:spPr>
          <a:xfrm>
            <a:off x="648000" y="5313600"/>
            <a:ext cx="4968000"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0" name="Google Shape;150;p3"/>
          <p:cNvSpPr txBox="1"/>
          <p:nvPr/>
        </p:nvSpPr>
        <p:spPr>
          <a:xfrm>
            <a:off x="648000" y="5436000"/>
            <a:ext cx="4968000" cy="5112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1150" b="0" i="0" u="none" strike="noStrike" cap="none">
                <a:solidFill>
                  <a:srgbClr val="4F4C4D"/>
                </a:solidFill>
                <a:latin typeface="Arial"/>
                <a:ea typeface="Arial"/>
                <a:cs typeface="Arial"/>
                <a:sym typeface="Arial"/>
              </a:rPr>
              <a:t>Graduates join the alumni communities of both universities: Yonsei’s across Korea and Asia, and over 240,000 in LSE’s worldwide network.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4"/>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Programme Overview</a:t>
            </a:r>
            <a:endParaRPr/>
          </a:p>
        </p:txBody>
      </p:sp>
      <p:graphicFrame>
        <p:nvGraphicFramePr>
          <p:cNvPr id="158" name="Google Shape;158;p4"/>
          <p:cNvGraphicFramePr/>
          <p:nvPr>
            <p:extLst>
              <p:ext uri="{D42A27DB-BD31-4B8C-83A1-F6EECF244321}">
                <p14:modId xmlns:p14="http://schemas.microsoft.com/office/powerpoint/2010/main" val="3531604835"/>
              </p:ext>
            </p:extLst>
          </p:nvPr>
        </p:nvGraphicFramePr>
        <p:xfrm>
          <a:off x="648000" y="1044000"/>
          <a:ext cx="10896012" cy="5242193"/>
        </p:xfrm>
        <a:graphic>
          <a:graphicData uri="http://schemas.openxmlformats.org/drawingml/2006/table">
            <a:tbl>
              <a:tblPr>
                <a:noFill/>
                <a:tableStyleId>{C6A3C097-8088-452F-8DB1-428490DD5ACE}</a:tableStyleId>
              </a:tblPr>
              <a:tblGrid>
                <a:gridCol w="2952000">
                  <a:extLst>
                    <a:ext uri="{9D8B030D-6E8A-4147-A177-3AD203B41FA5}">
                      <a16:colId xmlns:a16="http://schemas.microsoft.com/office/drawing/2014/main" val="20000"/>
                    </a:ext>
                  </a:extLst>
                </a:gridCol>
                <a:gridCol w="7944012">
                  <a:extLst>
                    <a:ext uri="{9D8B030D-6E8A-4147-A177-3AD203B41FA5}">
                      <a16:colId xmlns:a16="http://schemas.microsoft.com/office/drawing/2014/main" val="20001"/>
                    </a:ext>
                  </a:extLst>
                </a:gridCol>
              </a:tblGrid>
              <a:tr h="446400">
                <a:tc>
                  <a:txBody>
                    <a:bodyPr/>
                    <a:lstStyle/>
                    <a:p>
                      <a:pPr marL="0" marR="0" lvl="0" indent="0" algn="l" rtl="0">
                        <a:lnSpc>
                          <a:spcPct val="152100"/>
                        </a:lnSpc>
                        <a:spcBef>
                          <a:spcPts val="0"/>
                        </a:spcBef>
                        <a:spcAft>
                          <a:spcPts val="0"/>
                        </a:spcAft>
                        <a:buNone/>
                      </a:pPr>
                      <a:r>
                        <a:rPr lang="en-US" sz="1400" b="1" i="0" u="none" strike="noStrike" cap="none" dirty="0">
                          <a:solidFill>
                            <a:srgbClr val="FFFFFF"/>
                          </a:solidFill>
                          <a:latin typeface="Arial"/>
                          <a:ea typeface="Arial"/>
                          <a:cs typeface="Arial"/>
                          <a:sym typeface="Arial"/>
                        </a:rPr>
                        <a:t>Category</a:t>
                      </a:r>
                      <a:endParaRPr sz="1400" dirty="0"/>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tc>
                  <a:txBody>
                    <a:bodyPr/>
                    <a:lstStyle/>
                    <a:p>
                      <a:pPr marL="0" marR="0" lvl="0" indent="0" algn="l" rtl="0">
                        <a:lnSpc>
                          <a:spcPct val="152100"/>
                        </a:lnSpc>
                        <a:spcBef>
                          <a:spcPts val="0"/>
                        </a:spcBef>
                        <a:spcAft>
                          <a:spcPts val="0"/>
                        </a:spcAft>
                        <a:buNone/>
                      </a:pPr>
                      <a:r>
                        <a:rPr lang="en-US" sz="1400" b="1" i="0" u="none" strike="noStrike" cap="none">
                          <a:solidFill>
                            <a:srgbClr val="FFFFFF"/>
                          </a:solidFill>
                          <a:latin typeface="Arial"/>
                          <a:ea typeface="Arial"/>
                          <a:cs typeface="Arial"/>
                          <a:sym typeface="Arial"/>
                        </a:rPr>
                        <a:t>Details</a:t>
                      </a:r>
                      <a:endParaRPr sz="1400"/>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extLst>
                  <a:ext uri="{0D108BD9-81ED-4DB2-BD59-A6C34878D82A}">
                    <a16:rowId xmlns:a16="http://schemas.microsoft.com/office/drawing/2014/main" val="10000"/>
                  </a:ext>
                </a:extLst>
              </a:tr>
              <a:tr h="446400">
                <a:tc>
                  <a:txBody>
                    <a:bodyPr/>
                    <a:lstStyle/>
                    <a:p>
                      <a:pPr marL="0" marR="0" lvl="0" indent="0" algn="l" rtl="0">
                        <a:lnSpc>
                          <a:spcPct val="152100"/>
                        </a:lnSpc>
                        <a:spcBef>
                          <a:spcPts val="0"/>
                        </a:spcBef>
                        <a:spcAft>
                          <a:spcPts val="0"/>
                        </a:spcAft>
                        <a:buNone/>
                      </a:pPr>
                      <a:r>
                        <a:rPr lang="en-US" sz="1400" b="1" i="0" u="none" strike="noStrike" cap="none" dirty="0" err="1">
                          <a:solidFill>
                            <a:srgbClr val="133267"/>
                          </a:solidFill>
                          <a:latin typeface="Arial"/>
                          <a:ea typeface="Arial"/>
                          <a:cs typeface="Arial"/>
                          <a:sym typeface="Arial"/>
                        </a:rPr>
                        <a:t>Programme</a:t>
                      </a:r>
                      <a:endParaRPr sz="1400" dirty="0"/>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a:solidFill>
                            <a:srgbClr val="231F20"/>
                          </a:solidFill>
                          <a:latin typeface="Arial"/>
                          <a:ea typeface="Arial"/>
                          <a:cs typeface="Arial"/>
                          <a:sym typeface="Arial"/>
                        </a:rPr>
                        <a:t>LSE–Yonsei Double Master’s Degree Programme in Economics</a:t>
                      </a:r>
                      <a:endParaRPr sz="1400"/>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First Intake</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a:solidFill>
                            <a:srgbClr val="231F20"/>
                          </a:solidFill>
                          <a:latin typeface="Arial"/>
                          <a:ea typeface="Arial"/>
                          <a:cs typeface="Arial"/>
                          <a:sym typeface="Arial"/>
                        </a:rPr>
                        <a:t>2027/28 academic year</a:t>
                      </a:r>
                      <a:endParaRPr sz="140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Duration</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a:solidFill>
                            <a:srgbClr val="231F20"/>
                          </a:solidFill>
                          <a:latin typeface="Arial"/>
                          <a:ea typeface="Arial"/>
                          <a:cs typeface="Arial"/>
                          <a:sym typeface="Arial"/>
                        </a:rPr>
                        <a:t>Two years, full-time</a:t>
                      </a:r>
                      <a:endParaRPr sz="140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Year 1</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a:solidFill>
                            <a:srgbClr val="231F20"/>
                          </a:solidFill>
                          <a:latin typeface="Arial"/>
                          <a:ea typeface="Arial"/>
                          <a:cs typeface="Arial"/>
                          <a:sym typeface="Arial"/>
                        </a:rPr>
                        <a:t>Graduate School of Economics, Yonsei University, Seoul</a:t>
                      </a:r>
                      <a:endParaRPr sz="140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Year 2</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Department of Economics, London School of Economics and Political Science (LSE), London</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Language of Instruction</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All teaching and assessment are conducted in English at both universities.</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734400">
                <a:tc>
                  <a:txBody>
                    <a:bodyPr/>
                    <a:lstStyle/>
                    <a:p>
                      <a:pPr marL="0" marR="0" lvl="0" indent="0" algn="l" rtl="0">
                        <a:lnSpc>
                          <a:spcPct val="152100"/>
                        </a:lnSpc>
                        <a:spcBef>
                          <a:spcPts val="0"/>
                        </a:spcBef>
                        <a:spcAft>
                          <a:spcPts val="0"/>
                        </a:spcAft>
                        <a:buNone/>
                      </a:pPr>
                      <a:r>
                        <a:rPr lang="en-US" sz="1400" b="1" i="0" u="none" strike="noStrike" cap="none">
                          <a:solidFill>
                            <a:srgbClr val="133267"/>
                          </a:solidFill>
                          <a:latin typeface="Arial"/>
                          <a:ea typeface="Arial"/>
                          <a:cs typeface="Arial"/>
                          <a:sym typeface="Arial"/>
                        </a:rPr>
                        <a:t>Degrees Awarded</a:t>
                      </a:r>
                      <a:endParaRPr sz="140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Master of Economics — Yonsei University</a:t>
                      </a:r>
                      <a:endParaRPr sz="1400" dirty="0"/>
                    </a:p>
                    <a:p>
                      <a:pPr marL="0" marR="0" lvl="0" indent="0" algn="l" rtl="0">
                        <a:lnSpc>
                          <a:spcPct val="152100"/>
                        </a:lnSpc>
                        <a:spcBef>
                          <a:spcPts val="250"/>
                        </a:spcBef>
                        <a:spcAft>
                          <a:spcPts val="0"/>
                        </a:spcAft>
                        <a:buNone/>
                      </a:pPr>
                      <a:r>
                        <a:rPr lang="en-US" sz="1400" b="0" i="0" u="none" strike="noStrike" cap="none" dirty="0">
                          <a:solidFill>
                            <a:srgbClr val="231F20"/>
                          </a:solidFill>
                          <a:latin typeface="Arial"/>
                          <a:ea typeface="Arial"/>
                          <a:cs typeface="Arial"/>
                          <a:sym typeface="Arial"/>
                        </a:rPr>
                        <a:t>MSc in Economics (Advanced Topics) — LSE</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Degree Award Requirements</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Students must satisfy the degree requirements of both universities to be awarded both degrees.</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Number of Places</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Approximately 40 students (anticipated intake for 2027/28)</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446400">
                <a:tc>
                  <a:txBody>
                    <a:bodyPr/>
                    <a:lstStyle/>
                    <a:p>
                      <a:pPr marL="0" marR="0" lvl="0" indent="0" algn="l" rtl="0">
                        <a:lnSpc>
                          <a:spcPct val="152100"/>
                        </a:lnSpc>
                        <a:spcBef>
                          <a:spcPts val="0"/>
                        </a:spcBef>
                        <a:spcAft>
                          <a:spcPts val="0"/>
                        </a:spcAft>
                        <a:buNone/>
                      </a:pPr>
                      <a:r>
                        <a:rPr lang="en-US" sz="1400" b="1" i="0" u="none" strike="noStrike" cap="none" dirty="0">
                          <a:solidFill>
                            <a:srgbClr val="133267"/>
                          </a:solidFill>
                          <a:latin typeface="Arial"/>
                          <a:ea typeface="Arial"/>
                          <a:cs typeface="Arial"/>
                          <a:sym typeface="Arial"/>
                        </a:rPr>
                        <a:t>Admission Decision</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400" b="0" i="0" u="none" strike="noStrike" cap="none" dirty="0">
                          <a:solidFill>
                            <a:srgbClr val="231F20"/>
                          </a:solidFill>
                          <a:latin typeface="Arial"/>
                          <a:ea typeface="Arial"/>
                          <a:cs typeface="Arial"/>
                          <a:sym typeface="Arial"/>
                        </a:rPr>
                        <a:t>Joint </a:t>
                      </a:r>
                      <a:r>
                        <a:rPr lang="en-US" sz="1400" b="0" i="0" u="none" strike="noStrike" cap="none" dirty="0" err="1">
                          <a:solidFill>
                            <a:srgbClr val="231F20"/>
                          </a:solidFill>
                          <a:latin typeface="Arial"/>
                          <a:ea typeface="Arial"/>
                          <a:cs typeface="Arial"/>
                          <a:sym typeface="Arial"/>
                        </a:rPr>
                        <a:t>Programme</a:t>
                      </a:r>
                      <a:r>
                        <a:rPr lang="en-US" sz="1400" b="0" i="0" u="none" strike="noStrike" cap="none" dirty="0">
                          <a:solidFill>
                            <a:srgbClr val="231F20"/>
                          </a:solidFill>
                          <a:latin typeface="Arial"/>
                          <a:ea typeface="Arial"/>
                          <a:cs typeface="Arial"/>
                          <a:sym typeface="Arial"/>
                        </a:rPr>
                        <a:t> Steering Committee </a:t>
                      </a:r>
                      <a:endParaRPr sz="1400" dirty="0"/>
                    </a:p>
                  </a:txBody>
                  <a:tcPr marL="88900" marR="88900" marT="63500" marB="63500" anchor="ctr">
                    <a:lnT w="9525" cap="flat" cmpd="sng">
                      <a:solidFill>
                        <a:srgbClr val="DDDDDD"/>
                      </a:solidFill>
                      <a:prstDash val="solid"/>
                      <a:round/>
                      <a:headEnd type="none" w="sm" len="sm"/>
                      <a:tailEnd type="none" w="sm" len="sm"/>
                    </a:lnT>
                    <a:lnB w="9525" cap="flat" cmpd="sng" algn="ctr">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4019586039"/>
                  </a:ext>
                </a:extLst>
              </a:tr>
            </a:tbl>
          </a:graphicData>
        </a:graphic>
      </p:graphicFrame>
      <p:sp>
        <p:nvSpPr>
          <p:cNvPr id="162" name="Google Shape;162;p4"/>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Programme Structure</a:t>
            </a:r>
            <a:endParaRPr/>
          </a:p>
        </p:txBody>
      </p:sp>
      <p:sp>
        <p:nvSpPr>
          <p:cNvPr id="187" name="Google Shape;187;p6"/>
          <p:cNvSpPr txBox="1"/>
          <p:nvPr/>
        </p:nvSpPr>
        <p:spPr>
          <a:xfrm>
            <a:off x="648000" y="936000"/>
            <a:ext cx="10896012" cy="486000"/>
          </a:xfrm>
          <a:prstGeom prst="rect">
            <a:avLst/>
          </a:prstGeom>
          <a:noFill/>
          <a:ln>
            <a:noFill/>
          </a:ln>
        </p:spPr>
        <p:txBody>
          <a:bodyPr spcFirstLastPara="1" wrap="square" lIns="0" tIns="0" rIns="0" bIns="0" anchor="t" anchorCtr="0">
            <a:spAutoFit/>
          </a:bodyPr>
          <a:lstStyle/>
          <a:p>
            <a:pPr marL="0" marR="0" lvl="0" indent="0" algn="l" rtl="0">
              <a:lnSpc>
                <a:spcPct val="135000"/>
              </a:lnSpc>
              <a:spcBef>
                <a:spcPts val="0"/>
              </a:spcBef>
              <a:spcAft>
                <a:spcPts val="0"/>
              </a:spcAft>
              <a:buNone/>
            </a:pPr>
            <a:r>
              <a:rPr lang="en-US" sz="1200" b="0" i="0" u="none" strike="noStrike" cap="none">
                <a:solidFill>
                  <a:srgbClr val="4F4C4D"/>
                </a:solidFill>
                <a:latin typeface="Arial"/>
                <a:ea typeface="Arial"/>
                <a:cs typeface="Arial"/>
                <a:sym typeface="Arial"/>
              </a:rPr>
              <a:t>Year 1 is spent at Yonsei University in Seoul and Year 2 at LSE in London. Students are subject to the regulations of the university at which they principally study in each year.</a:t>
            </a:r>
            <a:endParaRPr/>
          </a:p>
        </p:txBody>
      </p:sp>
      <p:sp>
        <p:nvSpPr>
          <p:cNvPr id="188" name="Google Shape;188;p6"/>
          <p:cNvSpPr/>
          <p:nvPr/>
        </p:nvSpPr>
        <p:spPr>
          <a:xfrm>
            <a:off x="648000" y="1548000"/>
            <a:ext cx="4008006" cy="4734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6"/>
          <p:cNvSpPr/>
          <p:nvPr/>
        </p:nvSpPr>
        <p:spPr>
          <a:xfrm>
            <a:off x="648000" y="1548000"/>
            <a:ext cx="4008006" cy="504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0" name="Google Shape;190;p6"/>
          <p:cNvSpPr txBox="1"/>
          <p:nvPr/>
        </p:nvSpPr>
        <p:spPr>
          <a:xfrm>
            <a:off x="828000" y="1728000"/>
            <a:ext cx="3648006" cy="1202400"/>
          </a:xfrm>
          <a:prstGeom prst="rect">
            <a:avLst/>
          </a:prstGeom>
          <a:noFill/>
          <a:ln>
            <a:noFill/>
          </a:ln>
        </p:spPr>
        <p:txBody>
          <a:bodyPr spcFirstLastPara="1" wrap="square" lIns="0" tIns="0" rIns="0" bIns="0" anchor="t" anchorCtr="0">
            <a:spAutoFit/>
          </a:bodyPr>
          <a:lstStyle/>
          <a:p>
            <a:pPr marL="0" marR="0" lvl="0" indent="0" algn="l" rtl="0">
              <a:lnSpc>
                <a:spcPct val="122850"/>
              </a:lnSpc>
              <a:spcBef>
                <a:spcPts val="0"/>
              </a:spcBef>
              <a:spcAft>
                <a:spcPts val="0"/>
              </a:spcAft>
              <a:buNone/>
            </a:pPr>
            <a:r>
              <a:rPr lang="en-US" sz="1900" b="1" i="0" u="none" strike="noStrike" cap="none" spc="120">
                <a:solidFill>
                  <a:srgbClr val="133267"/>
                </a:solidFill>
                <a:latin typeface="Arial Narrow"/>
                <a:ea typeface="Arial Narrow"/>
                <a:cs typeface="Arial Narrow"/>
                <a:sym typeface="Arial Narrow"/>
              </a:rPr>
              <a:t>YEAR 1</a:t>
            </a:r>
            <a:endParaRPr/>
          </a:p>
          <a:p>
            <a:pPr marL="0" marR="0" lvl="0" indent="0" algn="l" rtl="0">
              <a:lnSpc>
                <a:spcPct val="140400"/>
              </a:lnSpc>
              <a:spcBef>
                <a:spcPts val="100"/>
              </a:spcBef>
              <a:spcAft>
                <a:spcPts val="0"/>
              </a:spcAft>
              <a:buNone/>
            </a:pPr>
            <a:r>
              <a:rPr lang="en-US" sz="1200" b="1" i="0" u="none" strike="noStrike" cap="none">
                <a:solidFill>
                  <a:srgbClr val="4F4C4D"/>
                </a:solidFill>
                <a:latin typeface="Arial Narrow"/>
                <a:ea typeface="Arial Narrow"/>
                <a:cs typeface="Arial Narrow"/>
                <a:sym typeface="Arial Narrow"/>
              </a:rPr>
              <a:t>Seoul</a:t>
            </a:r>
            <a:endParaRPr/>
          </a:p>
          <a:p>
            <a:pPr marL="0" marR="0" lvl="0" indent="0" algn="l" rtl="0">
              <a:lnSpc>
                <a:spcPct val="152100"/>
              </a:lnSpc>
              <a:spcBef>
                <a:spcPts val="800"/>
              </a:spcBef>
              <a:spcAft>
                <a:spcPts val="0"/>
              </a:spcAft>
              <a:buNone/>
            </a:pPr>
            <a:r>
              <a:rPr lang="en-US" sz="1100" b="1" i="0" u="none" strike="noStrike" cap="none">
                <a:solidFill>
                  <a:srgbClr val="231F20"/>
                </a:solidFill>
                <a:latin typeface="Arial"/>
                <a:ea typeface="Arial"/>
                <a:cs typeface="Arial"/>
                <a:sym typeface="Arial"/>
              </a:rPr>
              <a:t>Graduate School of Economics,</a:t>
            </a:r>
            <a:endParaRPr/>
          </a:p>
          <a:p>
            <a:pPr marL="0" marR="0" lvl="0" indent="0" algn="l" rtl="0">
              <a:lnSpc>
                <a:spcPct val="152100"/>
              </a:lnSpc>
              <a:spcBef>
                <a:spcPts val="100"/>
              </a:spcBef>
              <a:spcAft>
                <a:spcPts val="0"/>
              </a:spcAft>
              <a:buNone/>
            </a:pPr>
            <a:r>
              <a:rPr lang="en-US" sz="1100" b="1" i="0" u="none" strike="noStrike" cap="none">
                <a:solidFill>
                  <a:srgbClr val="231F20"/>
                </a:solidFill>
                <a:latin typeface="Arial"/>
                <a:ea typeface="Arial"/>
                <a:cs typeface="Arial"/>
                <a:sym typeface="Arial"/>
              </a:rPr>
              <a:t>Yonsei University</a:t>
            </a:r>
            <a:endParaRPr/>
          </a:p>
        </p:txBody>
      </p:sp>
      <p:sp>
        <p:nvSpPr>
          <p:cNvPr id="191" name="Google Shape;191;p6"/>
          <p:cNvSpPr/>
          <p:nvPr/>
        </p:nvSpPr>
        <p:spPr>
          <a:xfrm>
            <a:off x="828000" y="3042000"/>
            <a:ext cx="3648006"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2" name="Google Shape;192;p6"/>
          <p:cNvSpPr txBox="1"/>
          <p:nvPr/>
        </p:nvSpPr>
        <p:spPr>
          <a:xfrm>
            <a:off x="828000" y="3186000"/>
            <a:ext cx="3648006" cy="2880000"/>
          </a:xfrm>
          <a:prstGeom prst="rect">
            <a:avLst/>
          </a:prstGeom>
          <a:noFill/>
          <a:ln>
            <a:noFill/>
          </a:ln>
        </p:spPr>
        <p:txBody>
          <a:bodyPr spcFirstLastPara="1" wrap="square" lIns="0" tIns="0" rIns="0" bIns="0" anchor="t" anchorCtr="0">
            <a:spAutoFit/>
          </a:bodyPr>
          <a:lstStyle/>
          <a:p>
            <a:pPr marL="114300" marR="0" lvl="0" indent="-114300" algn="l" rtl="0">
              <a:lnSpc>
                <a:spcPct val="150000"/>
              </a:lnSpc>
              <a:spcBef>
                <a:spcPts val="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Master of Economics </a:t>
            </a:r>
            <a:r>
              <a:rPr lang="en-US" sz="1100" b="0" i="0" u="none" strike="noStrike" cap="none" dirty="0" err="1">
                <a:solidFill>
                  <a:srgbClr val="231F20"/>
                </a:solidFill>
                <a:latin typeface="Arial"/>
                <a:ea typeface="Arial"/>
                <a:cs typeface="Arial"/>
                <a:sym typeface="Arial"/>
              </a:rPr>
              <a:t>programme</a:t>
            </a: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60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Minimum 18 credits in Year 1</a:t>
            </a:r>
            <a:endParaRPr dirty="0"/>
          </a:p>
          <a:p>
            <a:pPr marL="114300" marR="0" lvl="0" indent="-114300" algn="l" rtl="0">
              <a:lnSpc>
                <a:spcPct val="150000"/>
              </a:lnSpc>
              <a:spcBef>
                <a:spcPts val="60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9 required credits: Microeconomics, Macroeconomics and Econometrics</a:t>
            </a: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60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9 elective credits from a range of courses including Applied Econometrics and Data Science and Coding for Economics</a:t>
            </a: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60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Progression requires an overall average of at least B (B0) and at least B- in every course</a:t>
            </a:r>
            <a:endParaRPr dirty="0"/>
          </a:p>
          <a:p>
            <a:pPr marL="114300" marR="0" lvl="0" indent="-114300" algn="l" rtl="0">
              <a:lnSpc>
                <a:spcPct val="150000"/>
              </a:lnSpc>
              <a:spcBef>
                <a:spcPts val="600"/>
              </a:spcBef>
              <a:spcAft>
                <a:spcPts val="0"/>
              </a:spcAft>
              <a:buClr>
                <a:srgbClr val="133267"/>
              </a:buClr>
              <a:buSzPts val="1100"/>
              <a:buFont typeface="Arial"/>
              <a:buChar char="·"/>
            </a:pPr>
            <a:r>
              <a:rPr lang="en-US" sz="1100" b="0" i="0" u="none" strike="noStrike" cap="none" dirty="0">
                <a:solidFill>
                  <a:srgbClr val="231F20"/>
                </a:solidFill>
                <a:latin typeface="Arial"/>
                <a:ea typeface="Arial"/>
                <a:cs typeface="Arial"/>
                <a:sym typeface="Arial"/>
              </a:rPr>
              <a:t>Commences in the autumn semester of 2027</a:t>
            </a:r>
            <a:endParaRPr dirty="0"/>
          </a:p>
        </p:txBody>
      </p:sp>
      <p:sp>
        <p:nvSpPr>
          <p:cNvPr id="193" name="Google Shape;193;p6"/>
          <p:cNvSpPr/>
          <p:nvPr/>
        </p:nvSpPr>
        <p:spPr>
          <a:xfrm>
            <a:off x="4944006" y="1548000"/>
            <a:ext cx="4008006" cy="4734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4" name="Google Shape;194;p6"/>
          <p:cNvSpPr/>
          <p:nvPr/>
        </p:nvSpPr>
        <p:spPr>
          <a:xfrm>
            <a:off x="4944006" y="1548000"/>
            <a:ext cx="4008006" cy="504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5" name="Google Shape;195;p6"/>
          <p:cNvSpPr txBox="1"/>
          <p:nvPr/>
        </p:nvSpPr>
        <p:spPr>
          <a:xfrm>
            <a:off x="5124006" y="1728000"/>
            <a:ext cx="3648006" cy="1202400"/>
          </a:xfrm>
          <a:prstGeom prst="rect">
            <a:avLst/>
          </a:prstGeom>
          <a:noFill/>
          <a:ln>
            <a:noFill/>
          </a:ln>
        </p:spPr>
        <p:txBody>
          <a:bodyPr spcFirstLastPara="1" wrap="square" lIns="0" tIns="0" rIns="0" bIns="0" anchor="t" anchorCtr="0">
            <a:spAutoFit/>
          </a:bodyPr>
          <a:lstStyle/>
          <a:p>
            <a:pPr marL="0" marR="0" lvl="0" indent="0" algn="l" rtl="0">
              <a:lnSpc>
                <a:spcPct val="122850"/>
              </a:lnSpc>
              <a:spcBef>
                <a:spcPts val="0"/>
              </a:spcBef>
              <a:spcAft>
                <a:spcPts val="0"/>
              </a:spcAft>
              <a:buNone/>
            </a:pPr>
            <a:r>
              <a:rPr lang="en-US" sz="1900" b="1" i="0" u="none" strike="noStrike" cap="none" spc="120">
                <a:solidFill>
                  <a:srgbClr val="A4243B"/>
                </a:solidFill>
                <a:latin typeface="Arial Narrow"/>
                <a:ea typeface="Arial Narrow"/>
                <a:cs typeface="Arial Narrow"/>
                <a:sym typeface="Arial Narrow"/>
              </a:rPr>
              <a:t>YEAR 2</a:t>
            </a:r>
            <a:endParaRPr/>
          </a:p>
          <a:p>
            <a:pPr marL="0" marR="0" lvl="0" indent="0" algn="l" rtl="0">
              <a:lnSpc>
                <a:spcPct val="140400"/>
              </a:lnSpc>
              <a:spcBef>
                <a:spcPts val="100"/>
              </a:spcBef>
              <a:spcAft>
                <a:spcPts val="0"/>
              </a:spcAft>
              <a:buNone/>
            </a:pPr>
            <a:r>
              <a:rPr lang="en-US" sz="1200" b="1" i="0" u="none" strike="noStrike" cap="none">
                <a:solidFill>
                  <a:srgbClr val="4F4C4D"/>
                </a:solidFill>
                <a:latin typeface="Arial Narrow"/>
                <a:ea typeface="Arial Narrow"/>
                <a:cs typeface="Arial Narrow"/>
                <a:sym typeface="Arial Narrow"/>
              </a:rPr>
              <a:t>London</a:t>
            </a:r>
            <a:endParaRPr/>
          </a:p>
          <a:p>
            <a:pPr marL="0" marR="0" lvl="0" indent="0" algn="l" rtl="0">
              <a:lnSpc>
                <a:spcPct val="152100"/>
              </a:lnSpc>
              <a:spcBef>
                <a:spcPts val="800"/>
              </a:spcBef>
              <a:spcAft>
                <a:spcPts val="0"/>
              </a:spcAft>
              <a:buNone/>
            </a:pPr>
            <a:r>
              <a:rPr lang="en-US" sz="1100" b="1" i="0" u="none" strike="noStrike" cap="none">
                <a:solidFill>
                  <a:srgbClr val="231F20"/>
                </a:solidFill>
                <a:latin typeface="Arial"/>
                <a:ea typeface="Arial"/>
                <a:cs typeface="Arial"/>
                <a:sym typeface="Arial"/>
              </a:rPr>
              <a:t>Department of Economics,</a:t>
            </a:r>
            <a:endParaRPr/>
          </a:p>
          <a:p>
            <a:pPr marL="0" marR="0" lvl="0" indent="0" algn="l" rtl="0">
              <a:lnSpc>
                <a:spcPct val="152100"/>
              </a:lnSpc>
              <a:spcBef>
                <a:spcPts val="100"/>
              </a:spcBef>
              <a:spcAft>
                <a:spcPts val="0"/>
              </a:spcAft>
              <a:buNone/>
            </a:pPr>
            <a:r>
              <a:rPr lang="en-US" sz="1100" b="1" i="0" u="none" strike="noStrike" cap="none">
                <a:solidFill>
                  <a:srgbClr val="231F20"/>
                </a:solidFill>
                <a:latin typeface="Arial"/>
                <a:ea typeface="Arial"/>
                <a:cs typeface="Arial"/>
                <a:sym typeface="Arial"/>
              </a:rPr>
              <a:t>London School of Economics</a:t>
            </a:r>
            <a:endParaRPr/>
          </a:p>
        </p:txBody>
      </p:sp>
      <p:sp>
        <p:nvSpPr>
          <p:cNvPr id="196" name="Google Shape;196;p6"/>
          <p:cNvSpPr/>
          <p:nvPr/>
        </p:nvSpPr>
        <p:spPr>
          <a:xfrm>
            <a:off x="5124006" y="3042000"/>
            <a:ext cx="3648006" cy="10800"/>
          </a:xfrm>
          <a:prstGeom prst="rect">
            <a:avLst/>
          </a:prstGeom>
          <a:solidFill>
            <a:srgbClr val="DDDDDD"/>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97" name="Google Shape;197;p6"/>
          <p:cNvSpPr txBox="1"/>
          <p:nvPr/>
        </p:nvSpPr>
        <p:spPr>
          <a:xfrm>
            <a:off x="5124006" y="3186000"/>
            <a:ext cx="3648006" cy="2880000"/>
          </a:xfrm>
          <a:prstGeom prst="rect">
            <a:avLst/>
          </a:prstGeom>
          <a:noFill/>
          <a:ln>
            <a:noFill/>
          </a:ln>
        </p:spPr>
        <p:txBody>
          <a:bodyPr spcFirstLastPara="1" wrap="square" lIns="0" tIns="0" rIns="0" bIns="0" anchor="t" anchorCtr="0">
            <a:spAutoFit/>
          </a:bodyPr>
          <a:lstStyle/>
          <a:p>
            <a:pPr marL="114300" marR="0" lvl="0" indent="-114300" algn="l" rtl="0">
              <a:lnSpc>
                <a:spcPct val="150000"/>
              </a:lnSpc>
              <a:spcBef>
                <a:spcPts val="0"/>
              </a:spcBef>
              <a:spcAft>
                <a:spcPts val="0"/>
              </a:spcAft>
              <a:buClr>
                <a:srgbClr val="A4243B"/>
              </a:buClr>
              <a:buSzPts val="1100"/>
              <a:buFont typeface="Arial"/>
              <a:buChar char="·"/>
            </a:pPr>
            <a:r>
              <a:rPr lang="en-US" sz="1100" b="0" i="0" u="none" strike="noStrike" cap="none" dirty="0">
                <a:solidFill>
                  <a:srgbClr val="231F20"/>
                </a:solidFill>
                <a:latin typeface="Arial"/>
                <a:ea typeface="Arial"/>
                <a:cs typeface="Arial"/>
                <a:sym typeface="Arial"/>
              </a:rPr>
              <a:t>MSc in Economics (Advanced Topics)</a:t>
            </a:r>
            <a:endParaRPr sz="1100" b="0" i="0" u="none" strike="noStrike" cap="none" dirty="0">
              <a:solidFill>
                <a:srgbClr val="231F20"/>
              </a:solidFill>
              <a:latin typeface="Arial"/>
              <a:ea typeface="Arial"/>
              <a:cs typeface="Arial"/>
              <a:sym typeface="Arial"/>
            </a:endParaRPr>
          </a:p>
          <a:p>
            <a:pPr marL="114300" marR="0" lvl="0" indent="-57150" algn="l" rtl="0">
              <a:lnSpc>
                <a:spcPct val="150000"/>
              </a:lnSpc>
              <a:spcBef>
                <a:spcPts val="0"/>
              </a:spcBef>
              <a:spcAft>
                <a:spcPts val="0"/>
              </a:spcAft>
              <a:buClr>
                <a:srgbClr val="A4243B"/>
              </a:buClr>
              <a:buSzPts val="1100"/>
              <a:buFont typeface="Arial"/>
              <a:buNone/>
            </a:pP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0"/>
              </a:spcBef>
              <a:spcAft>
                <a:spcPts val="0"/>
              </a:spcAft>
              <a:buClr>
                <a:srgbClr val="A4243B"/>
              </a:buClr>
              <a:buSzPts val="1100"/>
              <a:buFont typeface="Arial"/>
              <a:buChar char="·"/>
            </a:pPr>
            <a:r>
              <a:rPr lang="en-US" sz="1100" b="0" i="0" u="none" strike="noStrike" cap="none" dirty="0">
                <a:solidFill>
                  <a:srgbClr val="231F20"/>
                </a:solidFill>
                <a:latin typeface="Arial"/>
                <a:ea typeface="Arial"/>
                <a:cs typeface="Arial"/>
                <a:sym typeface="Arial"/>
              </a:rPr>
              <a:t>4 units (corresponding to 8 half unit courses)</a:t>
            </a:r>
            <a:endParaRPr dirty="0"/>
          </a:p>
          <a:p>
            <a:pPr marL="114300" marR="0" lvl="0" indent="-57150" algn="l" rtl="0">
              <a:lnSpc>
                <a:spcPct val="150000"/>
              </a:lnSpc>
              <a:spcBef>
                <a:spcPts val="0"/>
              </a:spcBef>
              <a:spcAft>
                <a:spcPts val="0"/>
              </a:spcAft>
              <a:buClr>
                <a:srgbClr val="A4243B"/>
              </a:buClr>
              <a:buSzPts val="1100"/>
              <a:buFont typeface="Arial"/>
              <a:buNone/>
            </a:pP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0"/>
              </a:spcBef>
              <a:spcAft>
                <a:spcPts val="0"/>
              </a:spcAft>
              <a:buClr>
                <a:srgbClr val="A4243B"/>
              </a:buClr>
              <a:buSzPts val="1100"/>
              <a:buFont typeface="Arial"/>
              <a:buChar char="·"/>
            </a:pPr>
            <a:r>
              <a:rPr lang="en-US" sz="1100" b="0" i="0" u="none" strike="noStrike" cap="none" dirty="0">
                <a:solidFill>
                  <a:srgbClr val="231F20"/>
                </a:solidFill>
                <a:latin typeface="Arial"/>
                <a:ea typeface="Arial"/>
                <a:cs typeface="Arial"/>
                <a:sym typeface="Arial"/>
              </a:rPr>
              <a:t>Free choice from a rich array of economics options courses, spanning advanced core courses and economic field courses, as well as from options in Finance</a:t>
            </a:r>
            <a:endParaRPr dirty="0"/>
          </a:p>
          <a:p>
            <a:pPr marL="114300" marR="0" lvl="0" indent="-57150" algn="l" rtl="0">
              <a:lnSpc>
                <a:spcPct val="150000"/>
              </a:lnSpc>
              <a:spcBef>
                <a:spcPts val="0"/>
              </a:spcBef>
              <a:spcAft>
                <a:spcPts val="0"/>
              </a:spcAft>
              <a:buClr>
                <a:srgbClr val="A4243B"/>
              </a:buClr>
              <a:buSzPts val="1100"/>
              <a:buFont typeface="Arial"/>
              <a:buNone/>
            </a:pPr>
            <a:endParaRPr sz="1100" b="0" i="0" u="none" strike="noStrike" cap="none" dirty="0">
              <a:solidFill>
                <a:srgbClr val="231F20"/>
              </a:solidFill>
              <a:latin typeface="Arial"/>
              <a:ea typeface="Arial"/>
              <a:cs typeface="Arial"/>
              <a:sym typeface="Arial"/>
            </a:endParaRPr>
          </a:p>
          <a:p>
            <a:pPr marL="114300" marR="0" lvl="0" indent="-114300" algn="l" rtl="0">
              <a:lnSpc>
                <a:spcPct val="150000"/>
              </a:lnSpc>
              <a:spcBef>
                <a:spcPts val="600"/>
              </a:spcBef>
              <a:spcAft>
                <a:spcPts val="0"/>
              </a:spcAft>
              <a:buClr>
                <a:srgbClr val="A4243B"/>
              </a:buClr>
              <a:buSzPts val="1100"/>
              <a:buFont typeface="Arial"/>
              <a:buChar char="·"/>
            </a:pPr>
            <a:r>
              <a:rPr lang="en-US" sz="1100" b="0" i="0" u="none" strike="noStrike" cap="none" dirty="0">
                <a:solidFill>
                  <a:srgbClr val="231F20"/>
                </a:solidFill>
                <a:latin typeface="Arial"/>
                <a:ea typeface="Arial"/>
                <a:cs typeface="Arial"/>
                <a:sym typeface="Arial"/>
              </a:rPr>
              <a:t>Commences in autumn 2028</a:t>
            </a:r>
            <a:endParaRPr dirty="0"/>
          </a:p>
        </p:txBody>
      </p:sp>
      <p:sp>
        <p:nvSpPr>
          <p:cNvPr id="198" name="Google Shape;198;p6"/>
          <p:cNvSpPr txBox="1"/>
          <p:nvPr/>
        </p:nvSpPr>
        <p:spPr>
          <a:xfrm>
            <a:off x="9240012" y="1548000"/>
            <a:ext cx="2304000" cy="230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00" b="1" i="0" u="none" strike="noStrike" cap="none">
                <a:solidFill>
                  <a:srgbClr val="133267"/>
                </a:solidFill>
                <a:latin typeface="Arial Narrow"/>
                <a:ea typeface="Arial Narrow"/>
                <a:cs typeface="Arial Narrow"/>
                <a:sym typeface="Arial Narrow"/>
              </a:rPr>
              <a:t>Timeline</a:t>
            </a:r>
            <a:endParaRPr/>
          </a:p>
        </p:txBody>
      </p:sp>
      <p:sp>
        <p:nvSpPr>
          <p:cNvPr id="199" name="Google Shape;199;p6"/>
          <p:cNvSpPr/>
          <p:nvPr/>
        </p:nvSpPr>
        <p:spPr>
          <a:xfrm>
            <a:off x="9240012" y="1800000"/>
            <a:ext cx="2304000"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0" name="Google Shape;200;p6"/>
          <p:cNvSpPr/>
          <p:nvPr/>
        </p:nvSpPr>
        <p:spPr>
          <a:xfrm>
            <a:off x="9376812" y="2160000"/>
            <a:ext cx="14400" cy="3816000"/>
          </a:xfrm>
          <a:prstGeom prst="rect">
            <a:avLst/>
          </a:prstGeom>
          <a:solidFill>
            <a:srgbClr val="AAB5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1" name="Google Shape;201;p6"/>
          <p:cNvSpPr/>
          <p:nvPr/>
        </p:nvSpPr>
        <p:spPr>
          <a:xfrm>
            <a:off x="9330012" y="2250000"/>
            <a:ext cx="108000" cy="108000"/>
          </a:xfrm>
          <a:prstGeom prst="ellipse">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2" name="Google Shape;202;p6"/>
          <p:cNvSpPr txBox="1"/>
          <p:nvPr/>
        </p:nvSpPr>
        <p:spPr>
          <a:xfrm>
            <a:off x="9636012" y="2077200"/>
            <a:ext cx="1908000" cy="4536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00" b="1" i="0" u="none" strike="noStrike" cap="none">
                <a:solidFill>
                  <a:srgbClr val="133267"/>
                </a:solidFill>
                <a:latin typeface="Arial"/>
                <a:ea typeface="Arial"/>
                <a:cs typeface="Arial"/>
                <a:sym typeface="Arial"/>
              </a:rPr>
              <a:t>Jan 2027</a:t>
            </a:r>
            <a:endParaRPr/>
          </a:p>
          <a:p>
            <a:pPr marL="0" marR="0" lvl="0" indent="0" algn="l" rtl="0">
              <a:lnSpc>
                <a:spcPct val="146250"/>
              </a:lnSpc>
              <a:spcBef>
                <a:spcPts val="100"/>
              </a:spcBef>
              <a:spcAft>
                <a:spcPts val="0"/>
              </a:spcAft>
              <a:buNone/>
            </a:pPr>
            <a:r>
              <a:rPr lang="en-US" sz="1100" b="0" i="0" u="none" strike="noStrike" cap="none">
                <a:solidFill>
                  <a:srgbClr val="4F4C4D"/>
                </a:solidFill>
                <a:latin typeface="Arial"/>
                <a:ea typeface="Arial"/>
                <a:cs typeface="Arial"/>
                <a:sym typeface="Arial"/>
              </a:rPr>
              <a:t>Application</a:t>
            </a:r>
            <a:endParaRPr/>
          </a:p>
        </p:txBody>
      </p:sp>
      <p:sp>
        <p:nvSpPr>
          <p:cNvPr id="203" name="Google Shape;203;p6"/>
          <p:cNvSpPr/>
          <p:nvPr/>
        </p:nvSpPr>
        <p:spPr>
          <a:xfrm>
            <a:off x="9330012" y="3132000"/>
            <a:ext cx="108000" cy="108000"/>
          </a:xfrm>
          <a:prstGeom prst="ellipse">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4" name="Google Shape;204;p6"/>
          <p:cNvSpPr txBox="1"/>
          <p:nvPr/>
        </p:nvSpPr>
        <p:spPr>
          <a:xfrm>
            <a:off x="9636012" y="2959200"/>
            <a:ext cx="1908000" cy="4536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00" b="1" i="0" u="none" strike="noStrike" cap="none">
                <a:solidFill>
                  <a:srgbClr val="133267"/>
                </a:solidFill>
                <a:latin typeface="Arial"/>
                <a:ea typeface="Arial"/>
                <a:cs typeface="Arial"/>
                <a:sym typeface="Arial"/>
              </a:rPr>
              <a:t>Apr 2027</a:t>
            </a:r>
            <a:endParaRPr/>
          </a:p>
          <a:p>
            <a:pPr marL="0" marR="0" lvl="0" indent="0" algn="l" rtl="0">
              <a:lnSpc>
                <a:spcPct val="146250"/>
              </a:lnSpc>
              <a:spcBef>
                <a:spcPts val="100"/>
              </a:spcBef>
              <a:spcAft>
                <a:spcPts val="0"/>
              </a:spcAft>
              <a:buNone/>
            </a:pPr>
            <a:r>
              <a:rPr lang="en-US" sz="1100" b="0" i="0" u="none" strike="noStrike" cap="none">
                <a:solidFill>
                  <a:srgbClr val="4F4C4D"/>
                </a:solidFill>
                <a:latin typeface="Arial"/>
                <a:ea typeface="Arial"/>
                <a:cs typeface="Arial"/>
                <a:sym typeface="Arial"/>
              </a:rPr>
              <a:t>Decisions</a:t>
            </a:r>
            <a:endParaRPr/>
          </a:p>
        </p:txBody>
      </p:sp>
      <p:sp>
        <p:nvSpPr>
          <p:cNvPr id="205" name="Google Shape;205;p6"/>
          <p:cNvSpPr/>
          <p:nvPr/>
        </p:nvSpPr>
        <p:spPr>
          <a:xfrm>
            <a:off x="9330012" y="4014000"/>
            <a:ext cx="108000" cy="108000"/>
          </a:xfrm>
          <a:prstGeom prst="ellipse">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6" name="Google Shape;206;p6"/>
          <p:cNvSpPr txBox="1"/>
          <p:nvPr/>
        </p:nvSpPr>
        <p:spPr>
          <a:xfrm>
            <a:off x="9636012" y="3841200"/>
            <a:ext cx="1908000" cy="4536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00" b="1" i="0" u="none" strike="noStrike" cap="none">
                <a:solidFill>
                  <a:srgbClr val="133267"/>
                </a:solidFill>
                <a:latin typeface="Arial"/>
                <a:ea typeface="Arial"/>
                <a:cs typeface="Arial"/>
                <a:sym typeface="Arial"/>
              </a:rPr>
              <a:t>Autumn 2027</a:t>
            </a:r>
            <a:endParaRPr/>
          </a:p>
          <a:p>
            <a:pPr marL="0" marR="0" lvl="0" indent="0" algn="l" rtl="0">
              <a:lnSpc>
                <a:spcPct val="146250"/>
              </a:lnSpc>
              <a:spcBef>
                <a:spcPts val="100"/>
              </a:spcBef>
              <a:spcAft>
                <a:spcPts val="0"/>
              </a:spcAft>
              <a:buNone/>
            </a:pPr>
            <a:r>
              <a:rPr lang="en-US" sz="1100" b="0" i="0" u="none" strike="noStrike" cap="none">
                <a:solidFill>
                  <a:srgbClr val="4F4C4D"/>
                </a:solidFill>
                <a:latin typeface="Arial"/>
                <a:ea typeface="Arial"/>
                <a:cs typeface="Arial"/>
                <a:sym typeface="Arial"/>
              </a:rPr>
              <a:t>Year 1 · Seoul</a:t>
            </a:r>
            <a:endParaRPr/>
          </a:p>
        </p:txBody>
      </p:sp>
      <p:sp>
        <p:nvSpPr>
          <p:cNvPr id="207" name="Google Shape;207;p6"/>
          <p:cNvSpPr/>
          <p:nvPr/>
        </p:nvSpPr>
        <p:spPr>
          <a:xfrm>
            <a:off x="9330012" y="4896000"/>
            <a:ext cx="108000" cy="108000"/>
          </a:xfrm>
          <a:prstGeom prst="ellipse">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08" name="Google Shape;208;p6"/>
          <p:cNvSpPr txBox="1"/>
          <p:nvPr/>
        </p:nvSpPr>
        <p:spPr>
          <a:xfrm>
            <a:off x="9636012" y="4723200"/>
            <a:ext cx="1908000" cy="4536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00" b="1" i="0" u="none" strike="noStrike" cap="none">
                <a:solidFill>
                  <a:srgbClr val="133267"/>
                </a:solidFill>
                <a:latin typeface="Arial"/>
                <a:ea typeface="Arial"/>
                <a:cs typeface="Arial"/>
                <a:sym typeface="Arial"/>
              </a:rPr>
              <a:t>Autumn 2028</a:t>
            </a:r>
            <a:endParaRPr/>
          </a:p>
          <a:p>
            <a:pPr marL="0" marR="0" lvl="0" indent="0" algn="l" rtl="0">
              <a:lnSpc>
                <a:spcPct val="146250"/>
              </a:lnSpc>
              <a:spcBef>
                <a:spcPts val="100"/>
              </a:spcBef>
              <a:spcAft>
                <a:spcPts val="0"/>
              </a:spcAft>
              <a:buNone/>
            </a:pPr>
            <a:r>
              <a:rPr lang="en-US" sz="1100" b="0" i="0" u="none" strike="noStrike" cap="none">
                <a:solidFill>
                  <a:srgbClr val="4F4C4D"/>
                </a:solidFill>
                <a:latin typeface="Arial"/>
                <a:ea typeface="Arial"/>
                <a:cs typeface="Arial"/>
                <a:sym typeface="Arial"/>
              </a:rPr>
              <a:t>Year 2 · London</a:t>
            </a:r>
            <a:endParaRPr/>
          </a:p>
        </p:txBody>
      </p:sp>
      <p:sp>
        <p:nvSpPr>
          <p:cNvPr id="209" name="Google Shape;209;p6"/>
          <p:cNvSpPr/>
          <p:nvPr/>
        </p:nvSpPr>
        <p:spPr>
          <a:xfrm>
            <a:off x="9330012" y="5778000"/>
            <a:ext cx="108000" cy="108000"/>
          </a:xfrm>
          <a:prstGeom prst="ellipse">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0" name="Google Shape;210;p6"/>
          <p:cNvSpPr txBox="1"/>
          <p:nvPr/>
        </p:nvSpPr>
        <p:spPr>
          <a:xfrm>
            <a:off x="9636012" y="5605200"/>
            <a:ext cx="1908000" cy="4536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00" b="1" i="0" u="none" strike="noStrike" cap="none">
                <a:solidFill>
                  <a:srgbClr val="133267"/>
                </a:solidFill>
                <a:latin typeface="Arial"/>
                <a:ea typeface="Arial"/>
                <a:cs typeface="Arial"/>
                <a:sym typeface="Arial"/>
              </a:rPr>
              <a:t>2029</a:t>
            </a:r>
            <a:endParaRPr/>
          </a:p>
          <a:p>
            <a:pPr marL="0" marR="0" lvl="0" indent="0" algn="l" rtl="0">
              <a:lnSpc>
                <a:spcPct val="146250"/>
              </a:lnSpc>
              <a:spcBef>
                <a:spcPts val="100"/>
              </a:spcBef>
              <a:spcAft>
                <a:spcPts val="0"/>
              </a:spcAft>
              <a:buNone/>
            </a:pPr>
            <a:r>
              <a:rPr lang="en-US" sz="1100" b="0" i="0" u="none" strike="noStrike" cap="none">
                <a:solidFill>
                  <a:srgbClr val="4F4C4D"/>
                </a:solidFill>
                <a:latin typeface="Arial"/>
                <a:ea typeface="Arial"/>
                <a:cs typeface="Arial"/>
                <a:sym typeface="Arial"/>
              </a:rPr>
              <a:t>Two degrees</a:t>
            </a:r>
            <a:endParaRPr/>
          </a:p>
        </p:txBody>
      </p:sp>
      <p:sp>
        <p:nvSpPr>
          <p:cNvPr id="211" name="Google Shape;211;p6"/>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Curriculum  |  Year 1 at Yonsei</a:t>
            </a:r>
            <a:endParaRPr/>
          </a:p>
        </p:txBody>
      </p:sp>
      <p:sp>
        <p:nvSpPr>
          <p:cNvPr id="218" name="Google Shape;218;p7"/>
          <p:cNvSpPr txBox="1"/>
          <p:nvPr/>
        </p:nvSpPr>
        <p:spPr>
          <a:xfrm>
            <a:off x="648000" y="900000"/>
            <a:ext cx="10896012" cy="6984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600" b="1" i="0" u="none" strike="noStrike" cap="none">
                <a:solidFill>
                  <a:srgbClr val="133267"/>
                </a:solidFill>
                <a:latin typeface="Arial Narrow"/>
                <a:ea typeface="Arial Narrow"/>
                <a:cs typeface="Arial Narrow"/>
                <a:sym typeface="Arial Narrow"/>
              </a:rPr>
              <a:t>Master of Economics, Graduate School of Economics</a:t>
            </a:r>
            <a:endParaRPr/>
          </a:p>
          <a:p>
            <a:pPr marL="0" marR="0" lvl="0" indent="0" algn="l" rtl="0">
              <a:lnSpc>
                <a:spcPct val="169650"/>
              </a:lnSpc>
              <a:spcBef>
                <a:spcPts val="500"/>
              </a:spcBef>
              <a:spcAft>
                <a:spcPts val="0"/>
              </a:spcAft>
              <a:buNone/>
            </a:pPr>
            <a:r>
              <a:rPr lang="en-US" sz="1200" b="0" i="0" u="none" strike="noStrike" cap="none">
                <a:solidFill>
                  <a:srgbClr val="4F4C4D"/>
                </a:solidFill>
                <a:latin typeface="Arial"/>
                <a:ea typeface="Arial"/>
                <a:cs typeface="Arial"/>
                <a:sym typeface="Arial"/>
              </a:rPr>
              <a:t>Students must complete at least 18 credits during Year 1 at Yonsei University.</a:t>
            </a:r>
            <a:endParaRPr/>
          </a:p>
        </p:txBody>
      </p:sp>
      <p:graphicFrame>
        <p:nvGraphicFramePr>
          <p:cNvPr id="219" name="Google Shape;219;p7"/>
          <p:cNvGraphicFramePr/>
          <p:nvPr/>
        </p:nvGraphicFramePr>
        <p:xfrm>
          <a:off x="648000" y="1764000"/>
          <a:ext cx="6480000" cy="4172046"/>
        </p:xfrm>
        <a:graphic>
          <a:graphicData uri="http://schemas.openxmlformats.org/drawingml/2006/table">
            <a:tbl>
              <a:tblPr>
                <a:noFill/>
                <a:tableStyleId>{C6A3C097-8088-452F-8DB1-428490DD5ACE}</a:tableStyleId>
              </a:tblPr>
              <a:tblGrid>
                <a:gridCol w="1440000">
                  <a:extLst>
                    <a:ext uri="{9D8B030D-6E8A-4147-A177-3AD203B41FA5}">
                      <a16:colId xmlns:a16="http://schemas.microsoft.com/office/drawing/2014/main" val="20000"/>
                    </a:ext>
                  </a:extLst>
                </a:gridCol>
                <a:gridCol w="4176000">
                  <a:extLst>
                    <a:ext uri="{9D8B030D-6E8A-4147-A177-3AD203B41FA5}">
                      <a16:colId xmlns:a16="http://schemas.microsoft.com/office/drawing/2014/main" val="20001"/>
                    </a:ext>
                  </a:extLst>
                </a:gridCol>
                <a:gridCol w="864000">
                  <a:extLst>
                    <a:ext uri="{9D8B030D-6E8A-4147-A177-3AD203B41FA5}">
                      <a16:colId xmlns:a16="http://schemas.microsoft.com/office/drawing/2014/main" val="20002"/>
                    </a:ext>
                  </a:extLst>
                </a:gridCol>
              </a:tblGrid>
              <a:tr h="478800">
                <a:tc>
                  <a:txBody>
                    <a:bodyPr/>
                    <a:lstStyle/>
                    <a:p>
                      <a:pPr marL="0" marR="0" lvl="0" indent="0" algn="l" rtl="0">
                        <a:lnSpc>
                          <a:spcPct val="152100"/>
                        </a:lnSpc>
                        <a:spcBef>
                          <a:spcPts val="0"/>
                        </a:spcBef>
                        <a:spcAft>
                          <a:spcPts val="0"/>
                        </a:spcAft>
                        <a:buNone/>
                      </a:pPr>
                      <a:r>
                        <a:rPr lang="en-US" sz="1300" b="1" i="0" u="none" strike="noStrike" cap="none">
                          <a:solidFill>
                            <a:srgbClr val="FFFFFF"/>
                          </a:solidFill>
                          <a:latin typeface="Arial"/>
                          <a:ea typeface="Arial"/>
                          <a:cs typeface="Arial"/>
                          <a:sym typeface="Arial"/>
                        </a:rPr>
                        <a:t>Category</a:t>
                      </a:r>
                      <a:endParaRPr/>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tc>
                  <a:txBody>
                    <a:bodyPr/>
                    <a:lstStyle/>
                    <a:p>
                      <a:pPr marL="0" marR="0" lvl="0" indent="0" algn="l" rtl="0">
                        <a:lnSpc>
                          <a:spcPct val="152100"/>
                        </a:lnSpc>
                        <a:spcBef>
                          <a:spcPts val="0"/>
                        </a:spcBef>
                        <a:spcAft>
                          <a:spcPts val="0"/>
                        </a:spcAft>
                        <a:buNone/>
                      </a:pPr>
                      <a:r>
                        <a:rPr lang="en-US" sz="1300" b="1" i="0" u="none" strike="noStrike" cap="none">
                          <a:solidFill>
                            <a:srgbClr val="FFFFFF"/>
                          </a:solidFill>
                          <a:latin typeface="Arial"/>
                          <a:ea typeface="Arial"/>
                          <a:cs typeface="Arial"/>
                          <a:sym typeface="Arial"/>
                        </a:rPr>
                        <a:t>Courses</a:t>
                      </a:r>
                      <a:endParaRPr/>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tc>
                  <a:txBody>
                    <a:bodyPr/>
                    <a:lstStyle/>
                    <a:p>
                      <a:pPr marL="0" marR="0" lvl="0" indent="0" algn="ctr" rtl="0">
                        <a:lnSpc>
                          <a:spcPct val="152100"/>
                        </a:lnSpc>
                        <a:spcBef>
                          <a:spcPts val="0"/>
                        </a:spcBef>
                        <a:spcAft>
                          <a:spcPts val="0"/>
                        </a:spcAft>
                        <a:buNone/>
                      </a:pPr>
                      <a:r>
                        <a:rPr lang="en-US" sz="1300" b="1" i="0" u="none" strike="noStrike" cap="none">
                          <a:solidFill>
                            <a:srgbClr val="FFFFFF"/>
                          </a:solidFill>
                          <a:latin typeface="Arial"/>
                          <a:ea typeface="Arial"/>
                          <a:cs typeface="Arial"/>
                          <a:sym typeface="Arial"/>
                        </a:rPr>
                        <a:t>Credits</a:t>
                      </a:r>
                      <a:endParaRPr/>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extLst>
                  <a:ext uri="{0D108BD9-81ED-4DB2-BD59-A6C34878D82A}">
                    <a16:rowId xmlns:a16="http://schemas.microsoft.com/office/drawing/2014/main" val="10000"/>
                  </a:ext>
                </a:extLst>
              </a:tr>
              <a:tr h="1083600">
                <a:tc>
                  <a:txBody>
                    <a:bodyPr/>
                    <a:lstStyle/>
                    <a:p>
                      <a:pPr marL="0" marR="0" lvl="0" indent="0" algn="l" rtl="0">
                        <a:lnSpc>
                          <a:spcPct val="152100"/>
                        </a:lnSpc>
                        <a:spcBef>
                          <a:spcPts val="0"/>
                        </a:spcBef>
                        <a:spcAft>
                          <a:spcPts val="0"/>
                        </a:spcAft>
                        <a:buNone/>
                      </a:pPr>
                      <a:r>
                        <a:rPr lang="en-US" sz="1300" b="1" i="0" u="none" strike="noStrike" cap="none">
                          <a:solidFill>
                            <a:srgbClr val="133267"/>
                          </a:solidFill>
                          <a:latin typeface="Arial"/>
                          <a:ea typeface="Arial"/>
                          <a:cs typeface="Arial"/>
                          <a:sym typeface="Arial"/>
                        </a:rPr>
                        <a:t>Required</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107950" marR="0" lvl="0" indent="-107950" algn="l" rtl="0">
                        <a:lnSpc>
                          <a:spcPct val="152100"/>
                        </a:lnSpc>
                        <a:spcBef>
                          <a:spcPts val="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Microeconomics I</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Macroeconomics I</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Econometrics</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ctr" rtl="0">
                        <a:lnSpc>
                          <a:spcPct val="152100"/>
                        </a:lnSpc>
                        <a:spcBef>
                          <a:spcPts val="0"/>
                        </a:spcBef>
                        <a:spcAft>
                          <a:spcPts val="0"/>
                        </a:spcAft>
                        <a:buNone/>
                      </a:pPr>
                      <a:r>
                        <a:rPr lang="en-US" sz="1500" b="1" i="0" u="none" strike="noStrike" cap="none">
                          <a:solidFill>
                            <a:srgbClr val="133267"/>
                          </a:solidFill>
                          <a:latin typeface="Arial"/>
                          <a:ea typeface="Arial"/>
                          <a:cs typeface="Arial"/>
                          <a:sym typeface="Arial"/>
                        </a:rPr>
                        <a:t>9</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994400">
                <a:tc>
                  <a:txBody>
                    <a:bodyPr/>
                    <a:lstStyle/>
                    <a:p>
                      <a:pPr marL="0" marR="0" lvl="0" indent="0" algn="l" rtl="0">
                        <a:lnSpc>
                          <a:spcPct val="152100"/>
                        </a:lnSpc>
                        <a:spcBef>
                          <a:spcPts val="0"/>
                        </a:spcBef>
                        <a:spcAft>
                          <a:spcPts val="0"/>
                        </a:spcAft>
                        <a:buNone/>
                      </a:pPr>
                      <a:r>
                        <a:rPr lang="en-US" sz="1300" b="1" i="0" u="none" strike="noStrike" cap="none">
                          <a:solidFill>
                            <a:srgbClr val="133267"/>
                          </a:solidFill>
                          <a:latin typeface="Arial"/>
                          <a:ea typeface="Arial"/>
                          <a:cs typeface="Arial"/>
                          <a:sym typeface="Arial"/>
                        </a:rPr>
                        <a:t>Electives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107950" marR="0" lvl="0" indent="-107950" algn="l" rtl="0">
                        <a:lnSpc>
                          <a:spcPct val="152100"/>
                        </a:lnSpc>
                        <a:spcBef>
                          <a:spcPts val="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Selected from courses such as:</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Mathematics for Economists</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Microeconomics II</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Macroeconomics II</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Applied Econometrics</a:t>
                      </a:r>
                      <a:endParaRPr/>
                    </a:p>
                    <a:p>
                      <a:pPr marL="107950" marR="0" lvl="0" indent="-107950" algn="l" rtl="0">
                        <a:lnSpc>
                          <a:spcPct val="152100"/>
                        </a:lnSpc>
                        <a:spcBef>
                          <a:spcPts val="250"/>
                        </a:spcBef>
                        <a:spcAft>
                          <a:spcPts val="0"/>
                        </a:spcAft>
                        <a:buClr>
                          <a:srgbClr val="133267"/>
                        </a:buClr>
                        <a:buSzPts val="1300"/>
                        <a:buFont typeface="Arial"/>
                        <a:buChar char="·"/>
                      </a:pPr>
                      <a:r>
                        <a:rPr lang="en-US" sz="1300" b="0" i="0" u="none" strike="noStrike" cap="none">
                          <a:solidFill>
                            <a:srgbClr val="231F20"/>
                          </a:solidFill>
                          <a:latin typeface="Arial"/>
                          <a:ea typeface="Arial"/>
                          <a:cs typeface="Arial"/>
                          <a:sym typeface="Arial"/>
                        </a:rPr>
                        <a:t>Data Analysis and Coding for Economists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tc>
                  <a:txBody>
                    <a:bodyPr/>
                    <a:lstStyle/>
                    <a:p>
                      <a:pPr marL="0" marR="0" lvl="0" indent="0" algn="ctr" rtl="0">
                        <a:lnSpc>
                          <a:spcPct val="152100"/>
                        </a:lnSpc>
                        <a:spcBef>
                          <a:spcPts val="0"/>
                        </a:spcBef>
                        <a:spcAft>
                          <a:spcPts val="0"/>
                        </a:spcAft>
                        <a:buNone/>
                      </a:pPr>
                      <a:r>
                        <a:rPr lang="en-US" sz="1500" b="1" i="0" u="none" strike="noStrike" cap="none">
                          <a:solidFill>
                            <a:srgbClr val="133267"/>
                          </a:solidFill>
                          <a:latin typeface="Arial"/>
                          <a:ea typeface="Arial"/>
                          <a:cs typeface="Arial"/>
                          <a:sym typeface="Arial"/>
                        </a:rPr>
                        <a:t>9</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18400">
                <a:tc>
                  <a:txBody>
                    <a:bodyPr/>
                    <a:lstStyle/>
                    <a:p>
                      <a:pPr marL="0" marR="0" lvl="0" indent="0" algn="l" rtl="0">
                        <a:lnSpc>
                          <a:spcPct val="152100"/>
                        </a:lnSpc>
                        <a:spcBef>
                          <a:spcPts val="0"/>
                        </a:spcBef>
                        <a:spcAft>
                          <a:spcPts val="0"/>
                        </a:spcAft>
                        <a:buNone/>
                      </a:pPr>
                      <a:r>
                        <a:rPr lang="en-US" sz="1300" b="1" i="0" u="none" strike="noStrike" cap="none">
                          <a:solidFill>
                            <a:srgbClr val="133267"/>
                          </a:solidFill>
                          <a:latin typeface="Arial"/>
                          <a:ea typeface="Arial"/>
                          <a:cs typeface="Arial"/>
                          <a:sym typeface="Arial"/>
                        </a:rPr>
                        <a:t>Year 1 total</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300" b="0" i="0" u="none" strike="noStrike" cap="none">
                          <a:solidFill>
                            <a:srgbClr val="231F20"/>
                          </a:solidFill>
                          <a:latin typeface="Arial"/>
                          <a:ea typeface="Arial"/>
                          <a:cs typeface="Arial"/>
                          <a:sym typeface="Arial"/>
                        </a:rPr>
                        <a:t>Minimum 18 credits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AEEF5"/>
                    </a:solidFill>
                  </a:tcPr>
                </a:tc>
                <a:tc>
                  <a:txBody>
                    <a:bodyPr/>
                    <a:lstStyle/>
                    <a:p>
                      <a:pPr marL="0" marR="0" lvl="0" indent="0" algn="ctr" rtl="0">
                        <a:lnSpc>
                          <a:spcPct val="152100"/>
                        </a:lnSpc>
                        <a:spcBef>
                          <a:spcPts val="0"/>
                        </a:spcBef>
                        <a:spcAft>
                          <a:spcPts val="0"/>
                        </a:spcAft>
                        <a:buNone/>
                      </a:pPr>
                      <a:r>
                        <a:rPr lang="en-US" sz="1500" b="1" i="0" u="none" strike="noStrike" cap="none">
                          <a:solidFill>
                            <a:srgbClr val="133267"/>
                          </a:solidFill>
                          <a:latin typeface="Arial"/>
                          <a:ea typeface="Arial"/>
                          <a:cs typeface="Arial"/>
                          <a:sym typeface="Arial"/>
                        </a:rPr>
                        <a:t>18</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AEEF5"/>
                    </a:solidFill>
                  </a:tcPr>
                </a:tc>
                <a:extLst>
                  <a:ext uri="{0D108BD9-81ED-4DB2-BD59-A6C34878D82A}">
                    <a16:rowId xmlns:a16="http://schemas.microsoft.com/office/drawing/2014/main" val="10003"/>
                  </a:ext>
                </a:extLst>
              </a:tr>
            </a:tbl>
          </a:graphicData>
        </a:graphic>
      </p:graphicFrame>
      <p:sp>
        <p:nvSpPr>
          <p:cNvPr id="220" name="Google Shape;220;p7"/>
          <p:cNvSpPr txBox="1"/>
          <p:nvPr/>
        </p:nvSpPr>
        <p:spPr>
          <a:xfrm>
            <a:off x="648000" y="5958000"/>
            <a:ext cx="6480000" cy="180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900" b="0" i="1" u="none" strike="noStrike" cap="none">
                <a:solidFill>
                  <a:srgbClr val="8C8A8B"/>
                </a:solidFill>
                <a:latin typeface="Arial"/>
                <a:ea typeface="Arial"/>
                <a:cs typeface="Arial"/>
                <a:sym typeface="Arial"/>
              </a:rPr>
              <a:t>※ The elective list above is indicative; the courses actually offered may vary by academic year.</a:t>
            </a:r>
            <a:endParaRPr/>
          </a:p>
        </p:txBody>
      </p:sp>
      <p:sp>
        <p:nvSpPr>
          <p:cNvPr id="221" name="Google Shape;221;p7"/>
          <p:cNvSpPr txBox="1"/>
          <p:nvPr/>
        </p:nvSpPr>
        <p:spPr>
          <a:xfrm>
            <a:off x="7416000" y="1764000"/>
            <a:ext cx="4128012" cy="230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00" b="1" i="0" u="none" strike="noStrike" cap="none">
                <a:solidFill>
                  <a:srgbClr val="133267"/>
                </a:solidFill>
                <a:latin typeface="Arial Narrow"/>
                <a:ea typeface="Arial Narrow"/>
                <a:cs typeface="Arial Narrow"/>
                <a:sym typeface="Arial Narrow"/>
              </a:rPr>
              <a:t>Progression to Year 2</a:t>
            </a:r>
            <a:endParaRPr/>
          </a:p>
        </p:txBody>
      </p:sp>
      <p:sp>
        <p:nvSpPr>
          <p:cNvPr id="222" name="Google Shape;222;p7"/>
          <p:cNvSpPr/>
          <p:nvPr/>
        </p:nvSpPr>
        <p:spPr>
          <a:xfrm>
            <a:off x="7416000" y="2016000"/>
            <a:ext cx="4128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3" name="Google Shape;223;p7"/>
          <p:cNvSpPr/>
          <p:nvPr/>
        </p:nvSpPr>
        <p:spPr>
          <a:xfrm>
            <a:off x="7416000" y="2178000"/>
            <a:ext cx="4128012" cy="3661200"/>
          </a:xfrm>
          <a:prstGeom prst="rect">
            <a:avLst/>
          </a:prstGeom>
          <a:solidFill>
            <a:srgbClr val="EAEEF5"/>
          </a:solidFill>
          <a:ln>
            <a:noFill/>
          </a:ln>
        </p:spPr>
        <p:txBody>
          <a:bodyPr spcFirstLastPara="1" wrap="square" lIns="177800" tIns="152400" rIns="177800" bIns="152400" anchor="t" anchorCtr="0">
            <a:noAutofit/>
          </a:bodyPr>
          <a:lstStyle/>
          <a:p>
            <a:pPr marL="0" marR="0" lvl="0" indent="0" algn="l" rtl="0">
              <a:lnSpc>
                <a:spcPct val="163800"/>
              </a:lnSpc>
              <a:spcBef>
                <a:spcPts val="0"/>
              </a:spcBef>
              <a:spcAft>
                <a:spcPts val="0"/>
              </a:spcAft>
              <a:buNone/>
            </a:pPr>
            <a:r>
              <a:rPr lang="en-US" sz="1300" b="1" i="0" u="none" strike="noStrike" cap="none" dirty="0">
                <a:solidFill>
                  <a:srgbClr val="231F20"/>
                </a:solidFill>
                <a:latin typeface="Arial"/>
                <a:ea typeface="Arial"/>
                <a:cs typeface="Arial"/>
                <a:sym typeface="Arial"/>
              </a:rPr>
              <a:t>To progress to Year 2 at LSE, students must satisfy both of the following:</a:t>
            </a:r>
            <a:endParaRPr dirty="0"/>
          </a:p>
          <a:p>
            <a:pPr marL="127000" marR="0" lvl="0" indent="-127000" algn="l" rtl="0">
              <a:lnSpc>
                <a:spcPct val="163800"/>
              </a:lnSpc>
              <a:spcBef>
                <a:spcPts val="600"/>
              </a:spcBef>
              <a:spcAft>
                <a:spcPts val="0"/>
              </a:spcAft>
              <a:buClr>
                <a:srgbClr val="133267"/>
              </a:buClr>
              <a:buSzPts val="1300"/>
              <a:buFont typeface="Arial"/>
              <a:buChar char="·"/>
            </a:pPr>
            <a:r>
              <a:rPr lang="en-US" sz="1300" b="0" i="0" u="none" strike="noStrike" cap="none" dirty="0">
                <a:solidFill>
                  <a:srgbClr val="231F20"/>
                </a:solidFill>
                <a:latin typeface="Arial"/>
                <a:ea typeface="Arial"/>
                <a:cs typeface="Arial"/>
                <a:sym typeface="Arial"/>
              </a:rPr>
              <a:t>an overall Year 1 average of at least B (B0 or the equivalent GPA); and</a:t>
            </a:r>
            <a:endParaRPr dirty="0"/>
          </a:p>
          <a:p>
            <a:pPr marL="127000" marR="0" lvl="0" indent="-127000" algn="l" rtl="0">
              <a:lnSpc>
                <a:spcPct val="163800"/>
              </a:lnSpc>
              <a:spcBef>
                <a:spcPts val="400"/>
              </a:spcBef>
              <a:spcAft>
                <a:spcPts val="0"/>
              </a:spcAft>
              <a:buClr>
                <a:srgbClr val="133267"/>
              </a:buClr>
              <a:buSzPts val="1300"/>
              <a:buFont typeface="Arial"/>
              <a:buChar char="·"/>
            </a:pPr>
            <a:r>
              <a:rPr lang="en-US" sz="1300" b="0" i="0" u="none" strike="noStrike" cap="none" dirty="0">
                <a:solidFill>
                  <a:srgbClr val="231F20"/>
                </a:solidFill>
                <a:latin typeface="Arial"/>
                <a:ea typeface="Arial"/>
                <a:cs typeface="Arial"/>
                <a:sym typeface="Arial"/>
              </a:rPr>
              <a:t>a grade of at least B- in every individual course.</a:t>
            </a:r>
            <a:endParaRPr dirty="0"/>
          </a:p>
          <a:p>
            <a:pPr marL="0" marR="0" lvl="0" indent="0" algn="l" rtl="0">
              <a:lnSpc>
                <a:spcPct val="163800"/>
              </a:lnSpc>
              <a:spcBef>
                <a:spcPts val="700"/>
              </a:spcBef>
              <a:spcAft>
                <a:spcPts val="0"/>
              </a:spcAft>
              <a:buNone/>
            </a:pPr>
            <a:r>
              <a:rPr lang="en-US" sz="1250" b="0" i="0" u="none" strike="noStrike" cap="none" dirty="0">
                <a:solidFill>
                  <a:srgbClr val="4F4C4D"/>
                </a:solidFill>
                <a:latin typeface="Arial"/>
                <a:ea typeface="Arial"/>
                <a:cs typeface="Arial"/>
                <a:sym typeface="Arial"/>
              </a:rPr>
              <a:t>If a student receives a grade below B- in any course, progression to Year 2 is deferred and the course must be retaken at Yonsei University in the following academic year.</a:t>
            </a:r>
            <a:endParaRPr dirty="0"/>
          </a:p>
        </p:txBody>
      </p:sp>
      <p:sp>
        <p:nvSpPr>
          <p:cNvPr id="224" name="Google Shape;224;p7"/>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8"/>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Curriculum  |  Year 2 at LSE</a:t>
            </a:r>
            <a:endParaRPr/>
          </a:p>
        </p:txBody>
      </p:sp>
      <p:sp>
        <p:nvSpPr>
          <p:cNvPr id="231" name="Google Shape;231;p8"/>
          <p:cNvSpPr txBox="1"/>
          <p:nvPr/>
        </p:nvSpPr>
        <p:spPr>
          <a:xfrm>
            <a:off x="648000" y="900000"/>
            <a:ext cx="10896012" cy="6984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600" b="1" i="0" u="none" strike="noStrike" cap="none">
                <a:solidFill>
                  <a:srgbClr val="133267"/>
                </a:solidFill>
                <a:latin typeface="Arial Narrow"/>
                <a:ea typeface="Arial Narrow"/>
                <a:cs typeface="Arial Narrow"/>
                <a:sym typeface="Arial Narrow"/>
              </a:rPr>
              <a:t>MSc in Economics (Advanced Topics), Department of Economics</a:t>
            </a:r>
            <a:endParaRPr/>
          </a:p>
          <a:p>
            <a:pPr marL="0" marR="0" lvl="0" indent="0" algn="l" rtl="0">
              <a:lnSpc>
                <a:spcPct val="169650"/>
              </a:lnSpc>
              <a:spcBef>
                <a:spcPts val="500"/>
              </a:spcBef>
              <a:spcAft>
                <a:spcPts val="0"/>
              </a:spcAft>
              <a:buNone/>
            </a:pPr>
            <a:r>
              <a:rPr lang="en-US" sz="1200" b="0" i="0" u="none" strike="noStrike" cap="none">
                <a:solidFill>
                  <a:srgbClr val="4F4C4D"/>
                </a:solidFill>
                <a:latin typeface="Arial"/>
                <a:ea typeface="Arial"/>
                <a:cs typeface="Arial"/>
                <a:sym typeface="Arial"/>
              </a:rPr>
              <a:t>In Year 2 students transfer to LSE in London and complete the requirements of the MSc programme.</a:t>
            </a:r>
            <a:endParaRPr/>
          </a:p>
        </p:txBody>
      </p:sp>
      <p:graphicFrame>
        <p:nvGraphicFramePr>
          <p:cNvPr id="232" name="Google Shape;232;p8"/>
          <p:cNvGraphicFramePr/>
          <p:nvPr/>
        </p:nvGraphicFramePr>
        <p:xfrm>
          <a:off x="648000" y="1728000"/>
          <a:ext cx="10896012" cy="4558834"/>
        </p:xfrm>
        <a:graphic>
          <a:graphicData uri="http://schemas.openxmlformats.org/drawingml/2006/table">
            <a:tbl>
              <a:tblPr>
                <a:noFill/>
                <a:tableStyleId>{C6A3C097-8088-452F-8DB1-428490DD5ACE}</a:tableStyleId>
              </a:tblPr>
              <a:tblGrid>
                <a:gridCol w="2160000">
                  <a:extLst>
                    <a:ext uri="{9D8B030D-6E8A-4147-A177-3AD203B41FA5}">
                      <a16:colId xmlns:a16="http://schemas.microsoft.com/office/drawing/2014/main" val="20000"/>
                    </a:ext>
                  </a:extLst>
                </a:gridCol>
                <a:gridCol w="8736012">
                  <a:extLst>
                    <a:ext uri="{9D8B030D-6E8A-4147-A177-3AD203B41FA5}">
                      <a16:colId xmlns:a16="http://schemas.microsoft.com/office/drawing/2014/main" val="20001"/>
                    </a:ext>
                  </a:extLst>
                </a:gridCol>
              </a:tblGrid>
              <a:tr h="450000">
                <a:tc>
                  <a:txBody>
                    <a:bodyPr/>
                    <a:lstStyle/>
                    <a:p>
                      <a:pPr marL="0" marR="0" lvl="0" indent="0" algn="l" rtl="0">
                        <a:lnSpc>
                          <a:spcPct val="152100"/>
                        </a:lnSpc>
                        <a:spcBef>
                          <a:spcPts val="0"/>
                        </a:spcBef>
                        <a:spcAft>
                          <a:spcPts val="0"/>
                        </a:spcAft>
                        <a:buNone/>
                      </a:pPr>
                      <a:r>
                        <a:rPr lang="en-US" sz="1250" b="1" i="0" u="none" strike="noStrike" cap="none">
                          <a:solidFill>
                            <a:srgbClr val="FFFFFF"/>
                          </a:solidFill>
                          <a:latin typeface="Arial"/>
                          <a:ea typeface="Arial"/>
                          <a:cs typeface="Arial"/>
                          <a:sym typeface="Arial"/>
                        </a:rPr>
                        <a:t>Component</a:t>
                      </a:r>
                      <a:endParaRPr/>
                    </a:p>
                  </a:txBody>
                  <a:tcPr marL="88900" marR="88900" marT="63500" marB="63500" anchor="ctr">
                    <a:lnT w="12700" cap="flat" cmpd="sng">
                      <a:solidFill>
                        <a:srgbClr val="A4243B"/>
                      </a:solidFill>
                      <a:prstDash val="solid"/>
                      <a:round/>
                      <a:headEnd type="none" w="sm" len="sm"/>
                      <a:tailEnd type="none" w="sm" len="sm"/>
                    </a:lnT>
                    <a:lnB w="12700" cap="flat" cmpd="sng">
                      <a:solidFill>
                        <a:srgbClr val="A4243B"/>
                      </a:solidFill>
                      <a:prstDash val="solid"/>
                      <a:round/>
                      <a:headEnd type="none" w="sm" len="sm"/>
                      <a:tailEnd type="none" w="sm" len="sm"/>
                    </a:lnB>
                    <a:solidFill>
                      <a:srgbClr val="A4243B"/>
                    </a:solidFill>
                  </a:tcPr>
                </a:tc>
                <a:tc>
                  <a:txBody>
                    <a:bodyPr/>
                    <a:lstStyle/>
                    <a:p>
                      <a:pPr marL="0" marR="0" lvl="0" indent="0" algn="l" rtl="0">
                        <a:lnSpc>
                          <a:spcPct val="152100"/>
                        </a:lnSpc>
                        <a:spcBef>
                          <a:spcPts val="0"/>
                        </a:spcBef>
                        <a:spcAft>
                          <a:spcPts val="0"/>
                        </a:spcAft>
                        <a:buNone/>
                      </a:pPr>
                      <a:r>
                        <a:rPr lang="en-US" sz="1250" b="1" i="0" u="none" strike="noStrike" cap="none">
                          <a:solidFill>
                            <a:srgbClr val="FFFFFF"/>
                          </a:solidFill>
                          <a:latin typeface="Arial"/>
                          <a:ea typeface="Arial"/>
                          <a:cs typeface="Arial"/>
                          <a:sym typeface="Arial"/>
                        </a:rPr>
                        <a:t>Requirement</a:t>
                      </a:r>
                      <a:endParaRPr/>
                    </a:p>
                  </a:txBody>
                  <a:tcPr marL="88900" marR="88900" marT="63500" marB="63500" anchor="ctr">
                    <a:lnT w="12700" cap="flat" cmpd="sng">
                      <a:solidFill>
                        <a:srgbClr val="A4243B"/>
                      </a:solidFill>
                      <a:prstDash val="solid"/>
                      <a:round/>
                      <a:headEnd type="none" w="sm" len="sm"/>
                      <a:tailEnd type="none" w="sm" len="sm"/>
                    </a:lnT>
                    <a:lnB w="12700" cap="flat" cmpd="sng">
                      <a:solidFill>
                        <a:srgbClr val="A4243B"/>
                      </a:solidFill>
                      <a:prstDash val="solid"/>
                      <a:round/>
                      <a:headEnd type="none" w="sm" len="sm"/>
                      <a:tailEnd type="none" w="sm" len="sm"/>
                    </a:lnB>
                    <a:solidFill>
                      <a:srgbClr val="A4243B"/>
                    </a:solidFill>
                  </a:tcPr>
                </a:tc>
                <a:extLst>
                  <a:ext uri="{0D108BD9-81ED-4DB2-BD59-A6C34878D82A}">
                    <a16:rowId xmlns:a16="http://schemas.microsoft.com/office/drawing/2014/main" val="10000"/>
                  </a:ext>
                </a:extLst>
              </a:tr>
              <a:tr h="4500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Pre-sessional course</a:t>
                      </a:r>
                      <a:endParaRPr/>
                    </a:p>
                  </a:txBody>
                  <a:tcPr marL="88900" marR="88900" marT="63500" marB="63500" anchor="ctr">
                    <a:lnT w="12700" cap="flat" cmpd="sng">
                      <a:solidFill>
                        <a:srgbClr val="A4243B"/>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250" b="0" i="0" u="none" strike="noStrike" cap="none">
                          <a:solidFill>
                            <a:srgbClr val="231F20"/>
                          </a:solidFill>
                          <a:latin typeface="Arial"/>
                          <a:ea typeface="Arial"/>
                          <a:cs typeface="Arial"/>
                          <a:sym typeface="Arial"/>
                        </a:rPr>
                        <a:t>Compulsory non-credit-bearing pre-sessional course</a:t>
                      </a:r>
                      <a:endParaRPr/>
                    </a:p>
                  </a:txBody>
                  <a:tcPr marL="88900" marR="88900" marT="63500" marB="63500" anchor="ctr">
                    <a:lnT w="12700" cap="flat" cmpd="sng">
                      <a:solidFill>
                        <a:srgbClr val="A4243B"/>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500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Taught courses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00000"/>
                        </a:lnSpc>
                        <a:spcBef>
                          <a:spcPts val="0"/>
                        </a:spcBef>
                        <a:spcAft>
                          <a:spcPts val="0"/>
                        </a:spcAft>
                        <a:buNone/>
                      </a:pPr>
                      <a:r>
                        <a:rPr lang="en-US" sz="1250" b="0" i="0" u="none" strike="noStrike" cap="none">
                          <a:solidFill>
                            <a:srgbClr val="231F20"/>
                          </a:solidFill>
                          <a:latin typeface="Arial"/>
                          <a:ea typeface="Arial"/>
                          <a:cs typeface="Arial"/>
                          <a:sym typeface="Arial"/>
                        </a:rPr>
                        <a:t>Courses totaling four (4) units, corresponding to eight (8) half unit courses</a:t>
                      </a:r>
                      <a:endParaRPr sz="1250" b="0" i="0" u="none" strike="noStrike" cap="none">
                        <a:solidFill>
                          <a:srgbClr val="231F20"/>
                        </a:solidFill>
                        <a:latin typeface="Arial"/>
                        <a:ea typeface="Arial"/>
                        <a:cs typeface="Arial"/>
                        <a:sym typeface="Arial"/>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804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Exemption</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250" b="0" i="0" u="none" strike="noStrike" cap="none">
                          <a:solidFill>
                            <a:srgbClr val="231F20"/>
                          </a:solidFill>
                          <a:latin typeface="Arial"/>
                          <a:ea typeface="Arial"/>
                          <a:cs typeface="Arial"/>
                          <a:sym typeface="Arial"/>
                        </a:rPr>
                        <a:t>Students who have successfully completed Mathematics for Economists at Yonsei University may, if they wish, be exempted from part of LSE’s compulsory pre-sessional mathematics and statistics course.</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500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Award of the LSE degree</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250" b="0" i="0" u="none" strike="noStrike" cap="none">
                          <a:solidFill>
                            <a:srgbClr val="231F20"/>
                          </a:solidFill>
                          <a:latin typeface="Arial"/>
                          <a:ea typeface="Arial"/>
                          <a:cs typeface="Arial"/>
                          <a:sym typeface="Arial"/>
                        </a:rPr>
                        <a:t>Students must pass at least four units in accordance with the applicable degree regulations.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500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Recognition at Yonsei</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250" b="0" i="0" u="none" strike="noStrike" cap="none">
                          <a:solidFill>
                            <a:srgbClr val="231F20"/>
                          </a:solidFill>
                          <a:latin typeface="Arial"/>
                          <a:ea typeface="Arial"/>
                          <a:cs typeface="Arial"/>
                          <a:sym typeface="Arial"/>
                        </a:rPr>
                        <a:t>At least 12 credits from courses completed at LSE are recognised by Yonsei University towards the Master of Economics.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404000">
                <a:tc>
                  <a:txBody>
                    <a:bodyPr/>
                    <a:lstStyle/>
                    <a:p>
                      <a:pPr marL="0" marR="0" lvl="0" indent="0" algn="l" rtl="0">
                        <a:lnSpc>
                          <a:spcPct val="152100"/>
                        </a:lnSpc>
                        <a:spcBef>
                          <a:spcPts val="0"/>
                        </a:spcBef>
                        <a:spcAft>
                          <a:spcPts val="0"/>
                        </a:spcAft>
                        <a:buNone/>
                      </a:pPr>
                      <a:r>
                        <a:rPr lang="en-US" sz="1250" b="1" i="0" u="none" strike="noStrike" cap="none">
                          <a:solidFill>
                            <a:srgbClr val="133267"/>
                          </a:solidFill>
                          <a:latin typeface="Arial"/>
                          <a:ea typeface="Arial"/>
                          <a:cs typeface="Arial"/>
                          <a:sym typeface="Arial"/>
                        </a:rPr>
                        <a:t>Course list</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00000"/>
                        </a:lnSpc>
                        <a:spcBef>
                          <a:spcPts val="0"/>
                        </a:spcBef>
                        <a:spcAft>
                          <a:spcPts val="0"/>
                        </a:spcAft>
                        <a:buNone/>
                      </a:pPr>
                      <a:r>
                        <a:rPr lang="en-US" sz="1250" u="none" strike="noStrike" cap="none">
                          <a:solidFill>
                            <a:schemeClr val="dk1"/>
                          </a:solidFill>
                          <a:latin typeface="Arial"/>
                          <a:ea typeface="Arial"/>
                          <a:cs typeface="Arial"/>
                          <a:sym typeface="Arial"/>
                        </a:rPr>
                        <a:t>Economics of Labour Markets; Development Economics: Applications and Policy; International Trade; International Macroeconomics; Public Economics; Political Economy; Topics in Industrial Organisation; Environment and resource economics; Behavioural Economics; Monetary Economics and Aggregate Fluctuations; Growth, Innovation, and Productivity; Financial Markets and the Macroeconomy; Contracts and Organisations; Empirical Macroeconomics; Advanced Econometrics with AI and Machine Learning; Economics of Technology: Historical Perspectives; Asset Markets; Corporate Finance; Fixed Income Markets; Derivatives; Entrepreneurial Finance; Portfolio Management</a:t>
                      </a:r>
                      <a:endParaRPr sz="1250" b="0" i="1" u="none" strike="noStrike" cap="none">
                        <a:solidFill>
                          <a:srgbClr val="7A5A00"/>
                        </a:solidFill>
                        <a:latin typeface="Arial"/>
                        <a:ea typeface="Arial"/>
                        <a:cs typeface="Arial"/>
                        <a:sym typeface="Arial"/>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
        <p:nvSpPr>
          <p:cNvPr id="236" name="Google Shape;236;p8"/>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9"/>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Progression &amp; Degree Requirements</a:t>
            </a:r>
            <a:endParaRPr/>
          </a:p>
        </p:txBody>
      </p:sp>
      <p:sp>
        <p:nvSpPr>
          <p:cNvPr id="243" name="Google Shape;243;p9"/>
          <p:cNvSpPr txBox="1"/>
          <p:nvPr/>
        </p:nvSpPr>
        <p:spPr>
          <a:xfrm>
            <a:off x="648000" y="900000"/>
            <a:ext cx="10896012" cy="6984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600" b="1" i="0" u="none" strike="noStrike" cap="none">
                <a:solidFill>
                  <a:srgbClr val="133267"/>
                </a:solidFill>
                <a:latin typeface="Arial Narrow"/>
                <a:ea typeface="Arial Narrow"/>
                <a:cs typeface="Arial Narrow"/>
                <a:sym typeface="Arial Narrow"/>
              </a:rPr>
              <a:t>Students must satisfy the degree requirements of both universities.</a:t>
            </a:r>
            <a:endParaRPr/>
          </a:p>
          <a:p>
            <a:pPr marL="0" marR="0" lvl="0" indent="0" algn="l" rtl="0">
              <a:lnSpc>
                <a:spcPct val="169650"/>
              </a:lnSpc>
              <a:spcBef>
                <a:spcPts val="500"/>
              </a:spcBef>
              <a:spcAft>
                <a:spcPts val="0"/>
              </a:spcAft>
              <a:buNone/>
            </a:pPr>
            <a:r>
              <a:rPr lang="en-US" sz="1200" b="0" i="0" u="none" strike="noStrike" cap="none">
                <a:solidFill>
                  <a:srgbClr val="4F4C4D"/>
                </a:solidFill>
                <a:latin typeface="Arial"/>
                <a:ea typeface="Arial"/>
                <a:cs typeface="Arial"/>
                <a:sym typeface="Arial"/>
              </a:rPr>
              <a:t>If a student fails to satisfy the requirements of either university, neither degree may be awarded separately under this double degree programme.</a:t>
            </a:r>
            <a:endParaRPr/>
          </a:p>
        </p:txBody>
      </p:sp>
      <p:sp>
        <p:nvSpPr>
          <p:cNvPr id="244" name="Google Shape;244;p9"/>
          <p:cNvSpPr/>
          <p:nvPr/>
        </p:nvSpPr>
        <p:spPr>
          <a:xfrm>
            <a:off x="648000" y="1764000"/>
            <a:ext cx="3488004" cy="2736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152400" tIns="152400" rIns="152400" bIns="152400" anchor="t" anchorCtr="0">
            <a:noAutofit/>
          </a:bodyPr>
          <a:lstStyle/>
          <a:p>
            <a:pPr marL="0" marR="0" lvl="0" indent="0" algn="l" rtl="0">
              <a:lnSpc>
                <a:spcPct val="140400"/>
              </a:lnSpc>
              <a:spcBef>
                <a:spcPts val="0"/>
              </a:spcBef>
              <a:spcAft>
                <a:spcPts val="0"/>
              </a:spcAft>
              <a:buNone/>
            </a:pPr>
            <a:r>
              <a:rPr lang="en-US" sz="1250" b="1" i="0" u="none" strike="noStrike" cap="none">
                <a:solidFill>
                  <a:srgbClr val="133267"/>
                </a:solidFill>
                <a:latin typeface="Arial Narrow"/>
                <a:ea typeface="Arial Narrow"/>
                <a:cs typeface="Arial Narrow"/>
                <a:sym typeface="Arial Narrow"/>
              </a:rPr>
              <a:t>01   Progression to Year 2</a:t>
            </a:r>
            <a:endParaRPr/>
          </a:p>
          <a:p>
            <a:pPr marL="127000" marR="0" lvl="0" indent="-127000" algn="l" rtl="0">
              <a:lnSpc>
                <a:spcPct val="163800"/>
              </a:lnSpc>
              <a:spcBef>
                <a:spcPts val="7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An overall Year 1 average of at least B (B0 or the equivalent GPA)</a:t>
            </a:r>
            <a:endParaRPr/>
          </a:p>
          <a:p>
            <a:pPr marL="127000" marR="0" lvl="0" indent="-127000" algn="l" rtl="0">
              <a:lnSpc>
                <a:spcPct val="163800"/>
              </a:lnSpc>
              <a:spcBef>
                <a:spcPts val="4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 grade of at least B- in every individual course</a:t>
            </a:r>
            <a:endParaRPr/>
          </a:p>
          <a:p>
            <a:pPr marL="127000" marR="0" lvl="0" indent="-127000" algn="l" rtl="0">
              <a:lnSpc>
                <a:spcPct val="163800"/>
              </a:lnSpc>
              <a:spcBef>
                <a:spcPts val="4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 grade below B- defers progression; the course must be retaken at Yonsei University in the following academic year</a:t>
            </a:r>
            <a:endParaRPr/>
          </a:p>
        </p:txBody>
      </p:sp>
      <p:sp>
        <p:nvSpPr>
          <p:cNvPr id="245" name="Google Shape;245;p9"/>
          <p:cNvSpPr/>
          <p:nvPr/>
        </p:nvSpPr>
        <p:spPr>
          <a:xfrm>
            <a:off x="4352004" y="1764000"/>
            <a:ext cx="3488004" cy="2736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152400" tIns="152400" rIns="152400" bIns="152400" anchor="t" anchorCtr="0">
            <a:noAutofit/>
          </a:bodyPr>
          <a:lstStyle/>
          <a:p>
            <a:pPr marL="0" marR="0" lvl="0" indent="0" algn="l" rtl="0">
              <a:lnSpc>
                <a:spcPct val="140400"/>
              </a:lnSpc>
              <a:spcBef>
                <a:spcPts val="0"/>
              </a:spcBef>
              <a:spcAft>
                <a:spcPts val="0"/>
              </a:spcAft>
              <a:buNone/>
            </a:pPr>
            <a:r>
              <a:rPr lang="en-US" sz="1250" b="1" i="0" u="none" strike="noStrike" cap="none">
                <a:solidFill>
                  <a:srgbClr val="133267"/>
                </a:solidFill>
                <a:latin typeface="Arial Narrow"/>
                <a:ea typeface="Arial Narrow"/>
                <a:cs typeface="Arial Narrow"/>
                <a:sym typeface="Arial Narrow"/>
              </a:rPr>
              <a:t>02   Master of Economics — Yonsei University</a:t>
            </a:r>
            <a:endParaRPr/>
          </a:p>
          <a:p>
            <a:pPr marL="127000" marR="0" lvl="0" indent="-127000" algn="l" rtl="0">
              <a:lnSpc>
                <a:spcPct val="163800"/>
              </a:lnSpc>
              <a:spcBef>
                <a:spcPts val="7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36 credits in total over the whole programme</a:t>
            </a:r>
            <a:endParaRPr/>
          </a:p>
          <a:p>
            <a:pPr marL="127000" marR="0" lvl="0" indent="-127000" algn="l" rtl="0">
              <a:lnSpc>
                <a:spcPct val="163800"/>
              </a:lnSpc>
              <a:spcBef>
                <a:spcPts val="4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At least 18 credits completed at Yonsei University in Year 1</a:t>
            </a:r>
            <a:endParaRPr/>
          </a:p>
          <a:p>
            <a:pPr marL="127000" marR="0" lvl="0" indent="-127000" algn="l" rtl="0">
              <a:lnSpc>
                <a:spcPct val="163800"/>
              </a:lnSpc>
              <a:spcBef>
                <a:spcPts val="4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At least 12 credits recognised by Yonsei University from courses completed at LSE</a:t>
            </a:r>
            <a:endParaRPr/>
          </a:p>
          <a:p>
            <a:pPr marL="127000" marR="0" lvl="0" indent="-127000" algn="l" rtl="0">
              <a:lnSpc>
                <a:spcPct val="163800"/>
              </a:lnSpc>
              <a:spcBef>
                <a:spcPts val="40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An overall GPA of at least 3.00 on a 4.30 scale</a:t>
            </a:r>
            <a:endParaRPr/>
          </a:p>
        </p:txBody>
      </p:sp>
      <p:sp>
        <p:nvSpPr>
          <p:cNvPr id="246" name="Google Shape;246;p9"/>
          <p:cNvSpPr/>
          <p:nvPr/>
        </p:nvSpPr>
        <p:spPr>
          <a:xfrm>
            <a:off x="8056008" y="1764000"/>
            <a:ext cx="3488004" cy="2736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152400" tIns="152400" rIns="152400" bIns="152400" anchor="t" anchorCtr="0">
            <a:noAutofit/>
          </a:bodyPr>
          <a:lstStyle/>
          <a:p>
            <a:pPr marL="0" marR="0" lvl="0" indent="0" algn="l" rtl="0">
              <a:lnSpc>
                <a:spcPct val="140400"/>
              </a:lnSpc>
              <a:spcBef>
                <a:spcPts val="0"/>
              </a:spcBef>
              <a:spcAft>
                <a:spcPts val="0"/>
              </a:spcAft>
              <a:buNone/>
            </a:pPr>
            <a:r>
              <a:rPr lang="en-US" sz="1250" b="1" i="0" u="none" strike="noStrike" cap="none">
                <a:solidFill>
                  <a:srgbClr val="A4243B"/>
                </a:solidFill>
                <a:latin typeface="Arial Narrow"/>
                <a:ea typeface="Arial Narrow"/>
                <a:cs typeface="Arial Narrow"/>
                <a:sym typeface="Arial Narrow"/>
              </a:rPr>
              <a:t>03   MSc in Economics (Advanced Topics) — LSE</a:t>
            </a:r>
            <a:endParaRPr/>
          </a:p>
          <a:p>
            <a:pPr marL="127000" marR="0" lvl="0" indent="-127000" algn="l" rtl="0">
              <a:lnSpc>
                <a:spcPct val="163800"/>
              </a:lnSpc>
              <a:spcBef>
                <a:spcPts val="700"/>
              </a:spcBef>
              <a:spcAft>
                <a:spcPts val="0"/>
              </a:spcAft>
              <a:buClr>
                <a:srgbClr val="A4243B"/>
              </a:buClr>
              <a:buSzPts val="1150"/>
              <a:buFont typeface="Arial"/>
              <a:buChar char="·"/>
            </a:pPr>
            <a:r>
              <a:rPr lang="en-US" sz="1150" b="0" i="0" u="none" strike="noStrike" cap="none">
                <a:solidFill>
                  <a:srgbClr val="231F20"/>
                </a:solidFill>
                <a:latin typeface="Arial"/>
                <a:ea typeface="Arial"/>
                <a:cs typeface="Arial"/>
                <a:sym typeface="Arial"/>
              </a:rPr>
              <a:t>Pass at least four units in accordance with the applicable degree regulations</a:t>
            </a:r>
            <a:endParaRPr/>
          </a:p>
          <a:p>
            <a:pPr marL="127000" marR="0" lvl="0" indent="-127000" algn="l" rtl="0">
              <a:lnSpc>
                <a:spcPct val="163800"/>
              </a:lnSpc>
              <a:spcBef>
                <a:spcPts val="400"/>
              </a:spcBef>
              <a:spcAft>
                <a:spcPts val="0"/>
              </a:spcAft>
              <a:buClr>
                <a:srgbClr val="A4243B"/>
              </a:buClr>
              <a:buSzPts val="1150"/>
              <a:buFont typeface="Arial"/>
              <a:buChar char="·"/>
            </a:pPr>
            <a:r>
              <a:rPr lang="en-US" sz="1150" b="0" i="0" u="none" strike="noStrike" cap="none">
                <a:solidFill>
                  <a:srgbClr val="231F20"/>
                </a:solidFill>
                <a:latin typeface="Arial"/>
                <a:ea typeface="Arial"/>
                <a:cs typeface="Arial"/>
                <a:sym typeface="Arial"/>
              </a:rPr>
              <a:t>Complete the compulsory non-credit-bearing pre-sessional course</a:t>
            </a:r>
            <a:endParaRPr/>
          </a:p>
        </p:txBody>
      </p:sp>
      <p:sp>
        <p:nvSpPr>
          <p:cNvPr id="247" name="Google Shape;247;p9"/>
          <p:cNvSpPr/>
          <p:nvPr/>
        </p:nvSpPr>
        <p:spPr>
          <a:xfrm>
            <a:off x="648000" y="4788000"/>
            <a:ext cx="10896012" cy="1008000"/>
          </a:xfrm>
          <a:prstGeom prst="rect">
            <a:avLst/>
          </a:prstGeom>
          <a:solidFill>
            <a:srgbClr val="133267"/>
          </a:solidFill>
          <a:ln>
            <a:noFill/>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300" b="1" i="0" u="none" strike="noStrike" cap="none">
                <a:solidFill>
                  <a:srgbClr val="FFFFFF"/>
                </a:solidFill>
                <a:latin typeface="Arial Narrow"/>
                <a:ea typeface="Arial Narrow"/>
                <a:cs typeface="Arial Narrow"/>
                <a:sym typeface="Arial Narrow"/>
              </a:rPr>
              <a:t>Both degrees, or neither.</a:t>
            </a:r>
            <a:endParaRPr/>
          </a:p>
          <a:p>
            <a:pPr marL="0" marR="0" lvl="0" indent="0" algn="l" rtl="0">
              <a:lnSpc>
                <a:spcPct val="163800"/>
              </a:lnSpc>
              <a:spcBef>
                <a:spcPts val="500"/>
              </a:spcBef>
              <a:spcAft>
                <a:spcPts val="0"/>
              </a:spcAft>
              <a:buNone/>
            </a:pPr>
            <a:r>
              <a:rPr lang="en-US" sz="1200" b="0" i="0" u="none" strike="noStrike" cap="none">
                <a:solidFill>
                  <a:srgbClr val="FFFFFF"/>
                </a:solidFill>
                <a:latin typeface="Arial"/>
                <a:ea typeface="Arial"/>
                <a:cs typeface="Arial"/>
                <a:sym typeface="Arial"/>
              </a:rPr>
              <a:t>If a student fails to satisfy the degree requirements of either university, neither degree may be awarded separately under this double degree programme.</a:t>
            </a:r>
            <a:endParaRPr/>
          </a:p>
        </p:txBody>
      </p:sp>
      <p:sp>
        <p:nvSpPr>
          <p:cNvPr id="248" name="Google Shape;248;p9"/>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0"/>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Admissions Schedule</a:t>
            </a:r>
            <a:endParaRPr/>
          </a:p>
        </p:txBody>
      </p:sp>
      <p:sp>
        <p:nvSpPr>
          <p:cNvPr id="255" name="Google Shape;255;p10"/>
          <p:cNvSpPr txBox="1"/>
          <p:nvPr/>
        </p:nvSpPr>
        <p:spPr>
          <a:xfrm>
            <a:off x="648000" y="972000"/>
            <a:ext cx="10896012" cy="288000"/>
          </a:xfrm>
          <a:prstGeom prst="rect">
            <a:avLst/>
          </a:prstGeom>
          <a:noFill/>
          <a:ln>
            <a:noFill/>
          </a:ln>
        </p:spPr>
        <p:txBody>
          <a:bodyPr spcFirstLastPara="1" wrap="square" lIns="0" tIns="0" rIns="0" bIns="0" anchor="t" anchorCtr="0">
            <a:spAutoFit/>
          </a:bodyPr>
          <a:lstStyle/>
          <a:p>
            <a:pPr marL="0" marR="0" lvl="0" indent="0" algn="l" rtl="0">
              <a:lnSpc>
                <a:spcPct val="163800"/>
              </a:lnSpc>
              <a:spcBef>
                <a:spcPts val="0"/>
              </a:spcBef>
              <a:spcAft>
                <a:spcPts val="0"/>
              </a:spcAft>
              <a:buNone/>
            </a:pPr>
            <a:r>
              <a:rPr lang="en-US" sz="1200" b="0" i="0" u="none" strike="noStrike" cap="none">
                <a:solidFill>
                  <a:srgbClr val="4F4C4D"/>
                </a:solidFill>
                <a:latin typeface="Arial"/>
                <a:ea typeface="Arial"/>
                <a:cs typeface="Arial"/>
                <a:sym typeface="Arial"/>
              </a:rPr>
              <a:t>Applications are submitted through Yonsei University’s online application system and reviewed jointly by both universities.</a:t>
            </a:r>
            <a:endParaRPr/>
          </a:p>
        </p:txBody>
      </p:sp>
      <p:graphicFrame>
        <p:nvGraphicFramePr>
          <p:cNvPr id="256" name="Google Shape;256;p10"/>
          <p:cNvGraphicFramePr/>
          <p:nvPr/>
        </p:nvGraphicFramePr>
        <p:xfrm>
          <a:off x="648000" y="1512000"/>
          <a:ext cx="10896012" cy="4157659"/>
        </p:xfrm>
        <a:graphic>
          <a:graphicData uri="http://schemas.openxmlformats.org/drawingml/2006/table">
            <a:tbl>
              <a:tblPr>
                <a:noFill/>
                <a:tableStyleId>{C6A3C097-8088-452F-8DB1-428490DD5ACE}</a:tableStyleId>
              </a:tblPr>
              <a:tblGrid>
                <a:gridCol w="4248000">
                  <a:extLst>
                    <a:ext uri="{9D8B030D-6E8A-4147-A177-3AD203B41FA5}">
                      <a16:colId xmlns:a16="http://schemas.microsoft.com/office/drawing/2014/main" val="20000"/>
                    </a:ext>
                  </a:extLst>
                </a:gridCol>
                <a:gridCol w="6648012">
                  <a:extLst>
                    <a:ext uri="{9D8B030D-6E8A-4147-A177-3AD203B41FA5}">
                      <a16:colId xmlns:a16="http://schemas.microsoft.com/office/drawing/2014/main" val="20001"/>
                    </a:ext>
                  </a:extLst>
                </a:gridCol>
              </a:tblGrid>
              <a:tr h="666000">
                <a:tc>
                  <a:txBody>
                    <a:bodyPr/>
                    <a:lstStyle/>
                    <a:p>
                      <a:pPr marL="0" marR="0" lvl="0" indent="0" algn="l" rtl="0">
                        <a:lnSpc>
                          <a:spcPct val="152100"/>
                        </a:lnSpc>
                        <a:spcBef>
                          <a:spcPts val="0"/>
                        </a:spcBef>
                        <a:spcAft>
                          <a:spcPts val="0"/>
                        </a:spcAft>
                        <a:buNone/>
                      </a:pPr>
                      <a:r>
                        <a:rPr lang="en-US" sz="1600" b="1" i="0" u="none" strike="noStrike" cap="none">
                          <a:solidFill>
                            <a:srgbClr val="FFFFFF"/>
                          </a:solidFill>
                          <a:latin typeface="Arial"/>
                          <a:ea typeface="Arial"/>
                          <a:cs typeface="Arial"/>
                          <a:sym typeface="Arial"/>
                        </a:rPr>
                        <a:t>Stage</a:t>
                      </a:r>
                      <a:endParaRPr/>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tc>
                  <a:txBody>
                    <a:bodyPr/>
                    <a:lstStyle/>
                    <a:p>
                      <a:pPr marL="0" marR="0" lvl="0" indent="0" algn="l" rtl="0">
                        <a:lnSpc>
                          <a:spcPct val="152100"/>
                        </a:lnSpc>
                        <a:spcBef>
                          <a:spcPts val="0"/>
                        </a:spcBef>
                        <a:spcAft>
                          <a:spcPts val="0"/>
                        </a:spcAft>
                        <a:buNone/>
                      </a:pPr>
                      <a:r>
                        <a:rPr lang="en-US" sz="1600" b="1" i="0" u="none" strike="noStrike" cap="none">
                          <a:solidFill>
                            <a:srgbClr val="FFFFFF"/>
                          </a:solidFill>
                          <a:latin typeface="Arial"/>
                          <a:ea typeface="Arial"/>
                          <a:cs typeface="Arial"/>
                          <a:sym typeface="Arial"/>
                        </a:rPr>
                        <a:t>Schedule</a:t>
                      </a:r>
                      <a:endParaRPr/>
                    </a:p>
                  </a:txBody>
                  <a:tcPr marL="88900" marR="88900" marT="63500" marB="63500" anchor="ctr">
                    <a:lnT w="12700" cap="flat" cmpd="sng">
                      <a:solidFill>
                        <a:srgbClr val="133267"/>
                      </a:solidFill>
                      <a:prstDash val="solid"/>
                      <a:round/>
                      <a:headEnd type="none" w="sm" len="sm"/>
                      <a:tailEnd type="none" w="sm" len="sm"/>
                    </a:lnT>
                    <a:lnB w="12700" cap="flat" cmpd="sng">
                      <a:solidFill>
                        <a:srgbClr val="133267"/>
                      </a:solidFill>
                      <a:prstDash val="solid"/>
                      <a:round/>
                      <a:headEnd type="none" w="sm" len="sm"/>
                      <a:tailEnd type="none" w="sm" len="sm"/>
                    </a:lnB>
                    <a:solidFill>
                      <a:srgbClr val="133267"/>
                    </a:solidFill>
                  </a:tcPr>
                </a:tc>
                <a:extLst>
                  <a:ext uri="{0D108BD9-81ED-4DB2-BD59-A6C34878D82A}">
                    <a16:rowId xmlns:a16="http://schemas.microsoft.com/office/drawing/2014/main" val="10000"/>
                  </a:ext>
                </a:extLst>
              </a:tr>
              <a:tr h="666000">
                <a:tc>
                  <a:txBody>
                    <a:bodyPr/>
                    <a:lstStyle/>
                    <a:p>
                      <a:pPr marL="0" marR="0" lvl="0" indent="0" algn="l" rtl="0">
                        <a:lnSpc>
                          <a:spcPct val="152100"/>
                        </a:lnSpc>
                        <a:spcBef>
                          <a:spcPts val="0"/>
                        </a:spcBef>
                        <a:spcAft>
                          <a:spcPts val="0"/>
                        </a:spcAft>
                        <a:buNone/>
                      </a:pPr>
                      <a:r>
                        <a:rPr lang="en-US" sz="1600" b="1" i="0" u="none" strike="noStrike" cap="none">
                          <a:solidFill>
                            <a:srgbClr val="133267"/>
                          </a:solidFill>
                          <a:latin typeface="Arial"/>
                          <a:ea typeface="Arial"/>
                          <a:cs typeface="Arial"/>
                          <a:sym typeface="Arial"/>
                        </a:rPr>
                        <a:t>Application Period</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600" b="0" i="0" u="none" strike="noStrike" cap="none">
                          <a:solidFill>
                            <a:srgbClr val="231F20"/>
                          </a:solidFill>
                          <a:latin typeface="Arial"/>
                          <a:ea typeface="Arial"/>
                          <a:cs typeface="Arial"/>
                          <a:sym typeface="Arial"/>
                        </a:rPr>
                        <a:t>1–31 January 2027 (provisional)</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66000">
                <a:tc>
                  <a:txBody>
                    <a:bodyPr/>
                    <a:lstStyle/>
                    <a:p>
                      <a:pPr marL="0" marR="0" lvl="0" indent="0" algn="l" rtl="0">
                        <a:lnSpc>
                          <a:spcPct val="152100"/>
                        </a:lnSpc>
                        <a:spcBef>
                          <a:spcPts val="0"/>
                        </a:spcBef>
                        <a:spcAft>
                          <a:spcPts val="0"/>
                        </a:spcAft>
                        <a:buNone/>
                      </a:pPr>
                      <a:r>
                        <a:rPr lang="en-US" sz="1600" b="1" i="0" u="none" strike="noStrike" cap="none">
                          <a:solidFill>
                            <a:srgbClr val="133267"/>
                          </a:solidFill>
                          <a:latin typeface="Arial"/>
                          <a:ea typeface="Arial"/>
                          <a:cs typeface="Arial"/>
                          <a:sym typeface="Arial"/>
                        </a:rPr>
                        <a:t>Application Review and Joint Selection</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600" b="0" i="0" u="none" strike="noStrike" cap="none">
                          <a:solidFill>
                            <a:srgbClr val="231F20"/>
                          </a:solidFill>
                          <a:latin typeface="Arial"/>
                          <a:ea typeface="Arial"/>
                          <a:cs typeface="Arial"/>
                          <a:sym typeface="Arial"/>
                        </a:rPr>
                        <a:t>Applications are jointly reviewed by both universities through Yonsei University’s online application system.</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66000">
                <a:tc>
                  <a:txBody>
                    <a:bodyPr/>
                    <a:lstStyle/>
                    <a:p>
                      <a:pPr marL="0" marR="0" lvl="0" indent="0" algn="l" rtl="0">
                        <a:lnSpc>
                          <a:spcPct val="152100"/>
                        </a:lnSpc>
                        <a:spcBef>
                          <a:spcPts val="0"/>
                        </a:spcBef>
                        <a:spcAft>
                          <a:spcPts val="0"/>
                        </a:spcAft>
                        <a:buNone/>
                      </a:pPr>
                      <a:r>
                        <a:rPr lang="en-US" sz="1600" b="1" i="0" u="none" strike="noStrike" cap="none">
                          <a:solidFill>
                            <a:srgbClr val="133267"/>
                          </a:solidFill>
                          <a:latin typeface="Arial"/>
                          <a:ea typeface="Arial"/>
                          <a:cs typeface="Arial"/>
                          <a:sym typeface="Arial"/>
                        </a:rPr>
                        <a:t>Notification of Final Decisions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600" b="0" i="0" u="none" strike="noStrike" cap="none">
                          <a:solidFill>
                            <a:srgbClr val="231F20"/>
                          </a:solidFill>
                          <a:latin typeface="Arial"/>
                          <a:ea typeface="Arial"/>
                          <a:cs typeface="Arial"/>
                          <a:sym typeface="Arial"/>
                        </a:rPr>
                        <a:t>By mid-April each year</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66000">
                <a:tc>
                  <a:txBody>
                    <a:bodyPr/>
                    <a:lstStyle/>
                    <a:p>
                      <a:pPr marL="0" marR="0" lvl="0" indent="0" algn="l" rtl="0">
                        <a:lnSpc>
                          <a:spcPct val="152100"/>
                        </a:lnSpc>
                        <a:spcBef>
                          <a:spcPts val="0"/>
                        </a:spcBef>
                        <a:spcAft>
                          <a:spcPts val="0"/>
                        </a:spcAft>
                        <a:buNone/>
                      </a:pPr>
                      <a:r>
                        <a:rPr lang="en-US" sz="1600" b="1" i="0" u="none" strike="noStrike" cap="none">
                          <a:solidFill>
                            <a:srgbClr val="133267"/>
                          </a:solidFill>
                          <a:latin typeface="Arial"/>
                          <a:ea typeface="Arial"/>
                          <a:cs typeface="Arial"/>
                          <a:sym typeface="Arial"/>
                        </a:rPr>
                        <a:t>Commencement of Year 1</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600" b="0" i="0" u="none" strike="noStrike" cap="none">
                          <a:solidFill>
                            <a:srgbClr val="231F20"/>
                          </a:solidFill>
                          <a:latin typeface="Arial"/>
                          <a:ea typeface="Arial"/>
                          <a:cs typeface="Arial"/>
                          <a:sym typeface="Arial"/>
                        </a:rPr>
                        <a:t>Autumn semester 2027 — Yonsei University, Seoul</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666000">
                <a:tc>
                  <a:txBody>
                    <a:bodyPr/>
                    <a:lstStyle/>
                    <a:p>
                      <a:pPr marL="0" marR="0" lvl="0" indent="0" algn="l" rtl="0">
                        <a:lnSpc>
                          <a:spcPct val="152100"/>
                        </a:lnSpc>
                        <a:spcBef>
                          <a:spcPts val="0"/>
                        </a:spcBef>
                        <a:spcAft>
                          <a:spcPts val="0"/>
                        </a:spcAft>
                        <a:buNone/>
                      </a:pPr>
                      <a:r>
                        <a:rPr lang="en-US" sz="1600" b="1" i="0" u="none" strike="noStrike" cap="none">
                          <a:solidFill>
                            <a:srgbClr val="133267"/>
                          </a:solidFill>
                          <a:latin typeface="Arial"/>
                          <a:ea typeface="Arial"/>
                          <a:cs typeface="Arial"/>
                          <a:sym typeface="Arial"/>
                        </a:rPr>
                        <a:t>Progression to Year 2 at LSE</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600" b="0" i="0" u="none" strike="noStrike" cap="none">
                          <a:solidFill>
                            <a:srgbClr val="231F20"/>
                          </a:solidFill>
                          <a:latin typeface="Arial"/>
                          <a:ea typeface="Arial"/>
                          <a:cs typeface="Arial"/>
                          <a:sym typeface="Arial"/>
                        </a:rPr>
                        <a:t>Autumn 2028 — LSE, London</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57" name="Google Shape;257;p10"/>
          <p:cNvSpPr txBox="1"/>
          <p:nvPr/>
        </p:nvSpPr>
        <p:spPr>
          <a:xfrm>
            <a:off x="648000" y="5868000"/>
            <a:ext cx="10896012" cy="180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900" b="0" i="1" u="none" strike="noStrike" cap="none">
                <a:solidFill>
                  <a:srgbClr val="8C8A8B"/>
                </a:solidFill>
                <a:latin typeface="Arial"/>
                <a:ea typeface="Arial"/>
                <a:cs typeface="Arial"/>
                <a:sym typeface="Arial"/>
              </a:rPr>
              <a:t>※ Dates marked “provisional” are subject to confirmation by both universities.</a:t>
            </a:r>
            <a:endParaRPr/>
          </a:p>
        </p:txBody>
      </p:sp>
      <p:sp>
        <p:nvSpPr>
          <p:cNvPr id="258" name="Google Shape;258;p10"/>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1"/>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Eligibility &amp; Admission Requirements</a:t>
            </a:r>
            <a:endParaRPr/>
          </a:p>
        </p:txBody>
      </p:sp>
      <p:sp>
        <p:nvSpPr>
          <p:cNvPr id="265" name="Google Shape;265;p11"/>
          <p:cNvSpPr txBox="1"/>
          <p:nvPr/>
        </p:nvSpPr>
        <p:spPr>
          <a:xfrm>
            <a:off x="648000" y="972000"/>
            <a:ext cx="10896012" cy="288000"/>
          </a:xfrm>
          <a:prstGeom prst="rect">
            <a:avLst/>
          </a:prstGeom>
          <a:noFill/>
          <a:ln>
            <a:noFill/>
          </a:ln>
        </p:spPr>
        <p:txBody>
          <a:bodyPr spcFirstLastPara="1" wrap="square" lIns="0" tIns="0" rIns="0" bIns="0" anchor="t" anchorCtr="0">
            <a:spAutoFit/>
          </a:bodyPr>
          <a:lstStyle/>
          <a:p>
            <a:pPr marL="0" marR="0" lvl="0" indent="0" algn="l" rtl="0">
              <a:lnSpc>
                <a:spcPct val="163800"/>
              </a:lnSpc>
              <a:spcBef>
                <a:spcPts val="0"/>
              </a:spcBef>
              <a:spcAft>
                <a:spcPts val="0"/>
              </a:spcAft>
              <a:buNone/>
            </a:pPr>
            <a:r>
              <a:rPr lang="en-US" sz="1250" b="0" i="0" u="none" strike="noStrike" cap="none">
                <a:solidFill>
                  <a:srgbClr val="4F4C4D"/>
                </a:solidFill>
                <a:latin typeface="Arial"/>
                <a:ea typeface="Arial"/>
                <a:cs typeface="Arial"/>
                <a:sym typeface="Arial"/>
              </a:rPr>
              <a:t>Applicants must meet the admission requirements for the relevant master’s programmes at both Yonsei University and LSE.</a:t>
            </a:r>
            <a:endParaRPr/>
          </a:p>
        </p:txBody>
      </p:sp>
      <p:graphicFrame>
        <p:nvGraphicFramePr>
          <p:cNvPr id="266" name="Google Shape;266;p11"/>
          <p:cNvGraphicFramePr/>
          <p:nvPr/>
        </p:nvGraphicFramePr>
        <p:xfrm>
          <a:off x="648000" y="1584000"/>
          <a:ext cx="7416000" cy="4072590"/>
        </p:xfrm>
        <a:graphic>
          <a:graphicData uri="http://schemas.openxmlformats.org/drawingml/2006/table">
            <a:tbl>
              <a:tblPr>
                <a:noFill/>
                <a:tableStyleId>{C6A3C097-8088-452F-8DB1-428490DD5ACE}</a:tableStyleId>
              </a:tblPr>
              <a:tblGrid>
                <a:gridCol w="1800000">
                  <a:extLst>
                    <a:ext uri="{9D8B030D-6E8A-4147-A177-3AD203B41FA5}">
                      <a16:colId xmlns:a16="http://schemas.microsoft.com/office/drawing/2014/main" val="20000"/>
                    </a:ext>
                  </a:extLst>
                </a:gridCol>
                <a:gridCol w="5616000">
                  <a:extLst>
                    <a:ext uri="{9D8B030D-6E8A-4147-A177-3AD203B41FA5}">
                      <a16:colId xmlns:a16="http://schemas.microsoft.com/office/drawing/2014/main" val="20001"/>
                    </a:ext>
                  </a:extLst>
                </a:gridCol>
              </a:tblGrid>
              <a:tr h="576000">
                <a:tc>
                  <a:txBody>
                    <a:bodyPr/>
                    <a:lstStyle/>
                    <a:p>
                      <a:pPr marL="0" marR="0" lvl="0" indent="0" algn="l" rtl="0">
                        <a:lnSpc>
                          <a:spcPct val="152100"/>
                        </a:lnSpc>
                        <a:spcBef>
                          <a:spcPts val="0"/>
                        </a:spcBef>
                        <a:spcAft>
                          <a:spcPts val="0"/>
                        </a:spcAft>
                        <a:buNone/>
                      </a:pPr>
                      <a:r>
                        <a:rPr lang="en-US" sz="1200" b="1" i="0" u="none" strike="noStrike" cap="none">
                          <a:solidFill>
                            <a:srgbClr val="133267"/>
                          </a:solidFill>
                          <a:latin typeface="Arial"/>
                          <a:ea typeface="Arial"/>
                          <a:cs typeface="Arial"/>
                          <a:sym typeface="Arial"/>
                        </a:rPr>
                        <a:t>Academic Qualifications</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0" marR="0" lvl="0" indent="0" algn="l" rtl="0">
                        <a:lnSpc>
                          <a:spcPct val="152100"/>
                        </a:lnSpc>
                        <a:spcBef>
                          <a:spcPts val="0"/>
                        </a:spcBef>
                        <a:spcAft>
                          <a:spcPts val="0"/>
                        </a:spcAft>
                        <a:buNone/>
                      </a:pPr>
                      <a:r>
                        <a:rPr lang="en-US" sz="1200" b="0" i="0" u="none" strike="noStrike" cap="none">
                          <a:solidFill>
                            <a:srgbClr val="231F20"/>
                          </a:solidFill>
                          <a:latin typeface="Arial"/>
                          <a:ea typeface="Arial"/>
                          <a:cs typeface="Arial"/>
                          <a:sym typeface="Arial"/>
                        </a:rPr>
                        <a:t>Applicants must hold a bachelor’s degree.</a:t>
                      </a:r>
                      <a:endParaRPr/>
                    </a:p>
                  </a:txBody>
                  <a:tcPr marL="88900" marR="88900" marT="63500" marB="63500" anchor="ctr">
                    <a:lnT w="12700" cap="flat" cmpd="sng">
                      <a:solidFill>
                        <a:srgbClr val="133267"/>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116000">
                <a:tc>
                  <a:txBody>
                    <a:bodyPr/>
                    <a:lstStyle/>
                    <a:p>
                      <a:pPr marL="0" marR="0" lvl="0" indent="0" algn="l" rtl="0">
                        <a:lnSpc>
                          <a:spcPct val="152100"/>
                        </a:lnSpc>
                        <a:spcBef>
                          <a:spcPts val="0"/>
                        </a:spcBef>
                        <a:spcAft>
                          <a:spcPts val="0"/>
                        </a:spcAft>
                        <a:buNone/>
                      </a:pPr>
                      <a:r>
                        <a:rPr lang="en-US" sz="1200" b="1" i="0" u="none" strike="noStrike" cap="none">
                          <a:solidFill>
                            <a:srgbClr val="133267"/>
                          </a:solidFill>
                          <a:latin typeface="Arial"/>
                          <a:ea typeface="Arial"/>
                          <a:cs typeface="Arial"/>
                          <a:sym typeface="Arial"/>
                        </a:rPr>
                        <a:t>English Language Proficiency</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171450" marR="0" lvl="0" indent="-171450" algn="l" rtl="0">
                        <a:spcBef>
                          <a:spcPts val="0"/>
                        </a:spcBef>
                        <a:spcAft>
                          <a:spcPts val="0"/>
                        </a:spcAft>
                        <a:buClr>
                          <a:schemeClr val="dk1"/>
                        </a:buClr>
                        <a:buSzPts val="1200"/>
                        <a:buFont typeface="Arial"/>
                        <a:buChar char="•"/>
                      </a:pPr>
                      <a:r>
                        <a:rPr lang="en-US" sz="1200" u="none" strike="noStrike" cap="none">
                          <a:solidFill>
                            <a:schemeClr val="dk1"/>
                          </a:solidFill>
                          <a:latin typeface="Arial"/>
                          <a:ea typeface="Arial"/>
                          <a:cs typeface="Arial"/>
                          <a:sym typeface="Arial"/>
                        </a:rPr>
                        <a:t>At admission: </a:t>
                      </a:r>
                      <a:r>
                        <a:rPr lang="en-US" sz="1200" b="1" u="sng" strike="noStrike" cap="none">
                          <a:solidFill>
                            <a:schemeClr val="dk1"/>
                          </a:solidFill>
                          <a:latin typeface="Arial"/>
                          <a:ea typeface="Arial"/>
                          <a:cs typeface="Arial"/>
                          <a:sym typeface="Arial"/>
                        </a:rPr>
                        <a:t>TOEFL iBT 80</a:t>
                      </a:r>
                      <a:r>
                        <a:rPr lang="en-US" sz="1200" b="1" u="none" strike="noStrike" cap="none">
                          <a:solidFill>
                            <a:schemeClr val="dk1"/>
                          </a:solidFill>
                          <a:latin typeface="Arial"/>
                          <a:ea typeface="Arial"/>
                          <a:cs typeface="Arial"/>
                          <a:sym typeface="Arial"/>
                        </a:rPr>
                        <a:t> </a:t>
                      </a:r>
                      <a:r>
                        <a:rPr lang="en-US" sz="1200" u="none" strike="noStrike" cap="none">
                          <a:solidFill>
                            <a:schemeClr val="dk1"/>
                          </a:solidFill>
                          <a:latin typeface="Arial"/>
                          <a:ea typeface="Arial"/>
                          <a:cs typeface="Arial"/>
                          <a:sym typeface="Arial"/>
                        </a:rPr>
                        <a:t>or above, or an equivalent IELTS score of 5.5.</a:t>
                      </a:r>
                      <a:endParaRPr sz="1200" u="none" strike="noStrike" cap="none">
                        <a:solidFill>
                          <a:schemeClr val="dk1"/>
                        </a:solidFill>
                        <a:latin typeface="Arial"/>
                        <a:ea typeface="Arial"/>
                        <a:cs typeface="Arial"/>
                        <a:sym typeface="Arial"/>
                      </a:endParaRPr>
                    </a:p>
                    <a:p>
                      <a:pPr marL="171450" marR="0" lvl="0" indent="-107950" algn="l" rtl="0">
                        <a:spcBef>
                          <a:spcPts val="200"/>
                        </a:spcBef>
                        <a:spcAft>
                          <a:spcPts val="0"/>
                        </a:spcAft>
                        <a:buClr>
                          <a:schemeClr val="dk1"/>
                        </a:buClr>
                        <a:buSzPts val="1200"/>
                        <a:buFont typeface="Arial"/>
                        <a:buNone/>
                      </a:pPr>
                      <a:endParaRPr sz="1200" u="none" strike="noStrike" cap="none">
                        <a:solidFill>
                          <a:schemeClr val="dk1"/>
                        </a:solidFill>
                        <a:latin typeface="Arial"/>
                        <a:ea typeface="Arial"/>
                        <a:cs typeface="Arial"/>
                        <a:sym typeface="Arial"/>
                      </a:endParaRPr>
                    </a:p>
                    <a:p>
                      <a:pPr marL="171450" marR="0" lvl="0" indent="-171450" algn="l" rtl="0">
                        <a:spcBef>
                          <a:spcPts val="200"/>
                        </a:spcBef>
                        <a:spcAft>
                          <a:spcPts val="0"/>
                        </a:spcAft>
                        <a:buClr>
                          <a:schemeClr val="dk1"/>
                        </a:buClr>
                        <a:buSzPts val="1200"/>
                        <a:buFont typeface="Arial"/>
                        <a:buChar char="•"/>
                      </a:pPr>
                      <a:r>
                        <a:rPr lang="en-US" sz="1200" u="none" strike="noStrike" cap="none">
                          <a:solidFill>
                            <a:schemeClr val="dk1"/>
                          </a:solidFill>
                          <a:latin typeface="Arial"/>
                          <a:ea typeface="Arial"/>
                          <a:cs typeface="Arial"/>
                          <a:sym typeface="Arial"/>
                        </a:rPr>
                        <a:t>LSE requirement before Year 2: TOEFL iBT 100 or above, or IELTS 7.0 or above. Students who have not met the LSE requirement will take </a:t>
                      </a:r>
                      <a:r>
                        <a:rPr lang="en-US" sz="1200" b="1" u="sng" strike="noStrike" cap="none">
                          <a:solidFill>
                            <a:schemeClr val="dk1"/>
                          </a:solidFill>
                          <a:latin typeface="Arial"/>
                          <a:ea typeface="Arial"/>
                          <a:cs typeface="Arial"/>
                          <a:sym typeface="Arial"/>
                        </a:rPr>
                        <a:t>an LSE English test</a:t>
                      </a:r>
                      <a:r>
                        <a:rPr lang="en-US" sz="1200" u="none" strike="noStrike" cap="none">
                          <a:solidFill>
                            <a:schemeClr val="dk1"/>
                          </a:solidFill>
                          <a:latin typeface="Arial"/>
                          <a:ea typeface="Arial"/>
                          <a:cs typeface="Arial"/>
                          <a:sym typeface="Arial"/>
                        </a:rPr>
                        <a:t>; students who do not pass must take an LSE English course.</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304000">
                <a:tc>
                  <a:txBody>
                    <a:bodyPr/>
                    <a:lstStyle/>
                    <a:p>
                      <a:pPr marL="0" marR="0" lvl="0" indent="0" algn="l" rtl="0">
                        <a:lnSpc>
                          <a:spcPct val="152100"/>
                        </a:lnSpc>
                        <a:spcBef>
                          <a:spcPts val="0"/>
                        </a:spcBef>
                        <a:spcAft>
                          <a:spcPts val="0"/>
                        </a:spcAft>
                        <a:buNone/>
                      </a:pPr>
                      <a:r>
                        <a:rPr lang="en-US" sz="1200" b="1" i="0" u="none" strike="noStrike" cap="none">
                          <a:solidFill>
                            <a:srgbClr val="133267"/>
                          </a:solidFill>
                          <a:latin typeface="Arial"/>
                          <a:ea typeface="Arial"/>
                          <a:cs typeface="Arial"/>
                          <a:sym typeface="Arial"/>
                        </a:rPr>
                        <a:t>Required Application Materials</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EFEEEE"/>
                    </a:solidFill>
                  </a:tcPr>
                </a:tc>
                <a:tc>
                  <a:txBody>
                    <a:bodyPr/>
                    <a:lstStyle/>
                    <a:p>
                      <a:pPr marL="171450" marR="0" lvl="0" indent="-171450" algn="l" rtl="0">
                        <a:lnSpc>
                          <a:spcPct val="152100"/>
                        </a:lnSpc>
                        <a:spcBef>
                          <a:spcPts val="0"/>
                        </a:spcBef>
                        <a:spcAft>
                          <a:spcPts val="0"/>
                        </a:spcAft>
                        <a:buClr>
                          <a:srgbClr val="133267"/>
                        </a:buClr>
                        <a:buSzPts val="1200"/>
                        <a:buFont typeface="Arial"/>
                        <a:buChar char="•"/>
                      </a:pPr>
                      <a:r>
                        <a:rPr lang="en-US" sz="1200" b="0" i="0" u="none" strike="noStrike" cap="none">
                          <a:solidFill>
                            <a:srgbClr val="231F20"/>
                          </a:solidFill>
                          <a:latin typeface="Arial"/>
                          <a:ea typeface="Arial"/>
                          <a:cs typeface="Arial"/>
                          <a:sym typeface="Arial"/>
                        </a:rPr>
                        <a:t>Yonsei University online application form</a:t>
                      </a:r>
                      <a:endParaRPr/>
                    </a:p>
                    <a:p>
                      <a:pPr marL="171450" marR="0" lvl="0" indent="-171450" algn="l" rtl="0">
                        <a:lnSpc>
                          <a:spcPct val="152100"/>
                        </a:lnSpc>
                        <a:spcBef>
                          <a:spcPts val="250"/>
                        </a:spcBef>
                        <a:spcAft>
                          <a:spcPts val="0"/>
                        </a:spcAft>
                        <a:buClr>
                          <a:srgbClr val="133267"/>
                        </a:buClr>
                        <a:buSzPts val="1200"/>
                        <a:buFont typeface="Arial"/>
                        <a:buChar char="•"/>
                      </a:pPr>
                      <a:r>
                        <a:rPr lang="en-US" sz="1200" b="0" i="0" u="none" strike="noStrike" cap="none">
                          <a:solidFill>
                            <a:srgbClr val="231F20"/>
                          </a:solidFill>
                          <a:latin typeface="Arial"/>
                          <a:ea typeface="Arial"/>
                          <a:cs typeface="Arial"/>
                          <a:sym typeface="Arial"/>
                        </a:rPr>
                        <a:t>Official transcript covering the applicant’s entire undergraduate programme</a:t>
                      </a:r>
                      <a:endParaRPr sz="1200" b="0" i="0" u="none" strike="noStrike" cap="none">
                        <a:solidFill>
                          <a:srgbClr val="231F20"/>
                        </a:solidFill>
                        <a:latin typeface="Arial"/>
                        <a:ea typeface="Arial"/>
                        <a:cs typeface="Arial"/>
                        <a:sym typeface="Arial"/>
                      </a:endParaRPr>
                    </a:p>
                    <a:p>
                      <a:pPr marL="171450" marR="0" lvl="0" indent="-171450" algn="l" rtl="0">
                        <a:lnSpc>
                          <a:spcPct val="152100"/>
                        </a:lnSpc>
                        <a:spcBef>
                          <a:spcPts val="250"/>
                        </a:spcBef>
                        <a:spcAft>
                          <a:spcPts val="0"/>
                        </a:spcAft>
                        <a:buClr>
                          <a:srgbClr val="133267"/>
                        </a:buClr>
                        <a:buSzPts val="1200"/>
                        <a:buFont typeface="Arial"/>
                        <a:buChar char="•"/>
                      </a:pPr>
                      <a:r>
                        <a:rPr lang="en-US" sz="1200" b="0" i="0" u="none" strike="noStrike" cap="none">
                          <a:solidFill>
                            <a:srgbClr val="231F20"/>
                          </a:solidFill>
                          <a:latin typeface="Arial"/>
                          <a:ea typeface="Arial"/>
                          <a:cs typeface="Arial"/>
                          <a:sym typeface="Arial"/>
                        </a:rPr>
                        <a:t>Proof of English language proficiency</a:t>
                      </a:r>
                      <a:endParaRPr/>
                    </a:p>
                    <a:p>
                      <a:pPr marL="171450" marR="0" lvl="0" indent="-171450" algn="l" rtl="0">
                        <a:lnSpc>
                          <a:spcPct val="152100"/>
                        </a:lnSpc>
                        <a:spcBef>
                          <a:spcPts val="250"/>
                        </a:spcBef>
                        <a:spcAft>
                          <a:spcPts val="0"/>
                        </a:spcAft>
                        <a:buClr>
                          <a:srgbClr val="133267"/>
                        </a:buClr>
                        <a:buSzPts val="1200"/>
                        <a:buFont typeface="Arial"/>
                        <a:buChar char="•"/>
                      </a:pPr>
                      <a:r>
                        <a:rPr lang="en-US" sz="1200" b="0" i="0" u="none" strike="noStrike" cap="none">
                          <a:solidFill>
                            <a:srgbClr val="231F20"/>
                          </a:solidFill>
                          <a:latin typeface="Arial"/>
                          <a:ea typeface="Arial"/>
                          <a:cs typeface="Arial"/>
                          <a:sym typeface="Arial"/>
                        </a:rPr>
                        <a:t>Any other information or documentation required by either university for admission, registration or statutory reporting purposes</a:t>
                      </a:r>
                      <a:endParaRPr/>
                    </a:p>
                    <a:p>
                      <a:pPr marL="171450" marR="0" lvl="0" indent="-171450" algn="l" rtl="0">
                        <a:lnSpc>
                          <a:spcPct val="152100"/>
                        </a:lnSpc>
                        <a:spcBef>
                          <a:spcPts val="250"/>
                        </a:spcBef>
                        <a:spcAft>
                          <a:spcPts val="0"/>
                        </a:spcAft>
                        <a:buClr>
                          <a:srgbClr val="133267"/>
                        </a:buClr>
                        <a:buSzPts val="1200"/>
                        <a:buFont typeface="Arial"/>
                        <a:buChar char="•"/>
                      </a:pPr>
                      <a:r>
                        <a:rPr lang="en-US" sz="1200" b="0" i="0" u="none" strike="noStrike" cap="none">
                          <a:solidFill>
                            <a:srgbClr val="231F20"/>
                          </a:solidFill>
                          <a:latin typeface="Arial"/>
                          <a:ea typeface="Arial"/>
                          <a:cs typeface="Arial"/>
                          <a:sym typeface="Arial"/>
                        </a:rPr>
                        <a:t>Separate consent authorising the sharing of the applicant’s personal data with LSE and its international transfer to the United Kingdom</a:t>
                      </a:r>
                      <a:endParaRPr/>
                    </a:p>
                  </a:txBody>
                  <a:tcPr marL="88900" marR="88900" marT="63500" marB="63500" anchor="ct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267" name="Google Shape;267;p11"/>
          <p:cNvSpPr txBox="1"/>
          <p:nvPr/>
        </p:nvSpPr>
        <p:spPr>
          <a:xfrm>
            <a:off x="8352000" y="1584000"/>
            <a:ext cx="3192012" cy="223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50" b="1" i="0" u="none" strike="noStrike" cap="none">
                <a:solidFill>
                  <a:srgbClr val="133267"/>
                </a:solidFill>
                <a:latin typeface="Arial Narrow"/>
                <a:ea typeface="Arial Narrow"/>
                <a:cs typeface="Arial Narrow"/>
                <a:sym typeface="Arial Narrow"/>
              </a:rPr>
              <a:t>English language requirement at a glance</a:t>
            </a:r>
            <a:endParaRPr/>
          </a:p>
        </p:txBody>
      </p:sp>
      <p:sp>
        <p:nvSpPr>
          <p:cNvPr id="268" name="Google Shape;268;p11"/>
          <p:cNvSpPr/>
          <p:nvPr/>
        </p:nvSpPr>
        <p:spPr>
          <a:xfrm>
            <a:off x="8352000" y="1836000"/>
            <a:ext cx="3192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9" name="Google Shape;269;p11"/>
          <p:cNvSpPr/>
          <p:nvPr/>
        </p:nvSpPr>
        <p:spPr>
          <a:xfrm>
            <a:off x="8352000" y="2016000"/>
            <a:ext cx="3192012" cy="1584000"/>
          </a:xfrm>
          <a:prstGeom prst="rect">
            <a:avLst/>
          </a:prstGeom>
          <a:solidFill>
            <a:srgbClr val="EAEEF5"/>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100" b="1" i="0" u="none" strike="noStrike" cap="none" spc="80">
                <a:solidFill>
                  <a:srgbClr val="133267"/>
                </a:solidFill>
                <a:latin typeface="Arial Narrow"/>
                <a:ea typeface="Arial Narrow"/>
                <a:cs typeface="Arial Narrow"/>
                <a:sym typeface="Arial Narrow"/>
              </a:rPr>
              <a:t>At admission (Yonsei)</a:t>
            </a: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r>
              <a:rPr lang="en-US" sz="2400" b="1" i="0" u="none" strike="noStrike" cap="none">
                <a:solidFill>
                  <a:srgbClr val="133267"/>
                </a:solidFill>
                <a:latin typeface="Arial Narrow"/>
                <a:ea typeface="Arial Narrow"/>
                <a:cs typeface="Arial Narrow"/>
                <a:sym typeface="Arial Narrow"/>
              </a:rPr>
              <a:t>TOEFL iBT 80</a:t>
            </a:r>
            <a:endParaRPr sz="1900" b="1" i="0" u="none" strike="noStrike" cap="none">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r>
              <a:rPr lang="en-US" sz="1200" b="0" i="0" u="none" strike="noStrike" cap="none">
                <a:solidFill>
                  <a:srgbClr val="4F4C4D"/>
                </a:solidFill>
                <a:latin typeface="Arial"/>
                <a:ea typeface="Arial"/>
                <a:cs typeface="Arial"/>
                <a:sym typeface="Arial"/>
              </a:rPr>
              <a:t>or IELTS 5.5</a:t>
            </a:r>
            <a:endParaRPr/>
          </a:p>
        </p:txBody>
      </p:sp>
      <p:sp>
        <p:nvSpPr>
          <p:cNvPr id="270" name="Google Shape;270;p11"/>
          <p:cNvSpPr/>
          <p:nvPr/>
        </p:nvSpPr>
        <p:spPr>
          <a:xfrm>
            <a:off x="8352000" y="2016000"/>
            <a:ext cx="3192012"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1" name="Google Shape;271;p11"/>
          <p:cNvSpPr/>
          <p:nvPr/>
        </p:nvSpPr>
        <p:spPr>
          <a:xfrm>
            <a:off x="8352000" y="3816000"/>
            <a:ext cx="3192012" cy="1908000"/>
          </a:xfrm>
          <a:prstGeom prst="rect">
            <a:avLst/>
          </a:prstGeom>
          <a:solidFill>
            <a:srgbClr val="F6EBEE"/>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100" b="1" i="0" u="none" strike="noStrike" cap="none" spc="80" dirty="0">
                <a:solidFill>
                  <a:srgbClr val="133267"/>
                </a:solidFill>
                <a:latin typeface="Arial Narrow"/>
                <a:ea typeface="Arial Narrow"/>
                <a:cs typeface="Arial Narrow"/>
                <a:sym typeface="Arial Narrow"/>
              </a:rPr>
              <a:t>Before Year 2 (LSE)</a:t>
            </a:r>
            <a:endParaRPr dirty="0"/>
          </a:p>
          <a:p>
            <a:pPr marL="0" marR="0" lvl="0" indent="0" algn="l" rtl="0">
              <a:spcBef>
                <a:spcPts val="200"/>
              </a:spcBef>
              <a:spcAft>
                <a:spcPts val="0"/>
              </a:spcAft>
              <a:buNone/>
            </a:pPr>
            <a:r>
              <a:rPr lang="en-US" sz="2400" b="1" i="0" u="none" strike="noStrike" cap="none" dirty="0">
                <a:solidFill>
                  <a:srgbClr val="133267"/>
                </a:solidFill>
                <a:latin typeface="Arial Narrow"/>
                <a:ea typeface="Arial Narrow"/>
                <a:cs typeface="Arial Narrow"/>
                <a:sym typeface="Arial Narrow"/>
              </a:rPr>
              <a:t>TOEFL </a:t>
            </a:r>
            <a:r>
              <a:rPr lang="en-US" sz="2400" b="1" i="0" u="none" strike="noStrike" cap="none" dirty="0" err="1">
                <a:solidFill>
                  <a:srgbClr val="133267"/>
                </a:solidFill>
                <a:latin typeface="Arial Narrow"/>
                <a:ea typeface="Arial Narrow"/>
                <a:cs typeface="Arial Narrow"/>
                <a:sym typeface="Arial Narrow"/>
              </a:rPr>
              <a:t>iBT</a:t>
            </a:r>
            <a:r>
              <a:rPr lang="en-US" sz="2400" b="1" i="0" u="none" strike="noStrike" cap="none" dirty="0">
                <a:solidFill>
                  <a:srgbClr val="133267"/>
                </a:solidFill>
                <a:latin typeface="Arial Narrow"/>
                <a:ea typeface="Arial Narrow"/>
                <a:cs typeface="Arial Narrow"/>
                <a:sym typeface="Arial Narrow"/>
              </a:rPr>
              <a:t> 100 </a:t>
            </a:r>
            <a:endParaRPr dirty="0"/>
          </a:p>
          <a:p>
            <a:pPr marL="0" marR="0" lvl="0" indent="0" algn="l" rtl="0">
              <a:spcBef>
                <a:spcPts val="200"/>
              </a:spcBef>
              <a:spcAft>
                <a:spcPts val="0"/>
              </a:spcAft>
              <a:buNone/>
            </a:pPr>
            <a:r>
              <a:rPr lang="en-US" sz="1200" b="0" i="0" u="none" strike="noStrike" cap="none" dirty="0">
                <a:solidFill>
                  <a:srgbClr val="4F4C4D"/>
                </a:solidFill>
                <a:latin typeface="Arial"/>
                <a:ea typeface="Arial"/>
                <a:cs typeface="Arial"/>
                <a:sym typeface="Arial"/>
              </a:rPr>
              <a:t>or IELTS 7.0</a:t>
            </a:r>
            <a:endParaRPr sz="1000" b="0" i="0" u="none" strike="noStrike" cap="none" dirty="0">
              <a:solidFill>
                <a:srgbClr val="4F4C4D"/>
              </a:solidFill>
              <a:latin typeface="Arial"/>
              <a:ea typeface="Arial"/>
              <a:cs typeface="Arial"/>
              <a:sym typeface="Arial"/>
            </a:endParaRPr>
          </a:p>
          <a:p>
            <a:pPr marL="0" marR="0" lvl="0" indent="0" algn="l" rtl="0">
              <a:spcBef>
                <a:spcPts val="200"/>
              </a:spcBef>
              <a:spcAft>
                <a:spcPts val="0"/>
              </a:spcAft>
              <a:buNone/>
            </a:pPr>
            <a:endParaRPr sz="900" b="0" i="0" u="none" strike="noStrike" cap="none" dirty="0">
              <a:solidFill>
                <a:srgbClr val="4F4C4D"/>
              </a:solidFill>
              <a:latin typeface="Arial"/>
              <a:ea typeface="Arial"/>
              <a:cs typeface="Arial"/>
              <a:sym typeface="Arial"/>
            </a:endParaRPr>
          </a:p>
          <a:p>
            <a:pPr marL="0" marR="0" lvl="0" indent="0" algn="l" rtl="0">
              <a:spcBef>
                <a:spcPts val="200"/>
              </a:spcBef>
              <a:spcAft>
                <a:spcPts val="0"/>
              </a:spcAft>
              <a:buNone/>
            </a:pPr>
            <a:r>
              <a:rPr lang="en-US" b="1" i="0" u="none" strike="noStrike" cap="none" dirty="0">
                <a:solidFill>
                  <a:srgbClr val="17365D"/>
                </a:solidFill>
                <a:latin typeface="Arial"/>
                <a:ea typeface="Arial"/>
                <a:cs typeface="Arial"/>
                <a:sym typeface="Arial"/>
              </a:rPr>
              <a:t>If not met: </a:t>
            </a:r>
            <a:br>
              <a:rPr lang="en-US" b="1" i="0" u="none" strike="noStrike" cap="none" dirty="0">
                <a:solidFill>
                  <a:srgbClr val="17365D"/>
                </a:solidFill>
                <a:latin typeface="Arial"/>
                <a:ea typeface="Arial"/>
                <a:cs typeface="Arial"/>
                <a:sym typeface="Arial"/>
              </a:rPr>
            </a:br>
            <a:r>
              <a:rPr lang="en-US" b="1" i="0" u="none" strike="noStrike" cap="none" dirty="0">
                <a:solidFill>
                  <a:srgbClr val="17365D"/>
                </a:solidFill>
                <a:latin typeface="Arial"/>
                <a:ea typeface="Arial"/>
                <a:cs typeface="Arial"/>
                <a:sym typeface="Arial"/>
              </a:rPr>
              <a:t>LSE test </a:t>
            </a:r>
            <a:br>
              <a:rPr lang="en-US" b="1" i="0" u="none" strike="noStrike" cap="none" dirty="0">
                <a:solidFill>
                  <a:srgbClr val="17365D"/>
                </a:solidFill>
                <a:latin typeface="Arial"/>
                <a:ea typeface="Arial"/>
                <a:cs typeface="Arial"/>
                <a:sym typeface="Arial"/>
              </a:rPr>
            </a:br>
            <a:r>
              <a:rPr lang="en-US" b="1" i="0" u="none" strike="noStrike" cap="none" dirty="0">
                <a:solidFill>
                  <a:srgbClr val="17365D"/>
                </a:solidFill>
                <a:latin typeface="Arial"/>
                <a:ea typeface="Arial"/>
                <a:cs typeface="Arial"/>
                <a:sym typeface="Arial"/>
              </a:rPr>
              <a:t>→ LSE English course if required</a:t>
            </a:r>
            <a:endParaRPr sz="2400" dirty="0"/>
          </a:p>
        </p:txBody>
      </p:sp>
      <p:sp>
        <p:nvSpPr>
          <p:cNvPr id="272" name="Google Shape;272;p11"/>
          <p:cNvSpPr/>
          <p:nvPr/>
        </p:nvSpPr>
        <p:spPr>
          <a:xfrm>
            <a:off x="8352000" y="3816000"/>
            <a:ext cx="3192012"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3" name="Google Shape;273;p11"/>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2"/>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Selection &amp; Admissions Process</a:t>
            </a:r>
            <a:endParaRPr/>
          </a:p>
        </p:txBody>
      </p:sp>
      <p:sp>
        <p:nvSpPr>
          <p:cNvPr id="280" name="Google Shape;280;p12"/>
          <p:cNvSpPr txBox="1"/>
          <p:nvPr/>
        </p:nvSpPr>
        <p:spPr>
          <a:xfrm>
            <a:off x="648000" y="972000"/>
            <a:ext cx="10896012" cy="288000"/>
          </a:xfrm>
          <a:prstGeom prst="rect">
            <a:avLst/>
          </a:prstGeom>
          <a:noFill/>
          <a:ln>
            <a:noFill/>
          </a:ln>
        </p:spPr>
        <p:txBody>
          <a:bodyPr spcFirstLastPara="1" wrap="square" lIns="0" tIns="0" rIns="0" bIns="0" anchor="t" anchorCtr="0">
            <a:spAutoFit/>
          </a:bodyPr>
          <a:lstStyle/>
          <a:p>
            <a:pPr marL="0" marR="0" lvl="0" indent="0" algn="l" rtl="0">
              <a:lnSpc>
                <a:spcPct val="163800"/>
              </a:lnSpc>
              <a:spcBef>
                <a:spcPts val="0"/>
              </a:spcBef>
              <a:spcAft>
                <a:spcPts val="0"/>
              </a:spcAft>
              <a:buNone/>
            </a:pPr>
            <a:r>
              <a:rPr lang="en-US" sz="1200" b="0" i="0" u="none" strike="noStrike" cap="none">
                <a:solidFill>
                  <a:srgbClr val="4F4C4D"/>
                </a:solidFill>
                <a:latin typeface="Arial"/>
                <a:ea typeface="Arial"/>
                <a:cs typeface="Arial"/>
                <a:sym typeface="Arial"/>
              </a:rPr>
              <a:t>A single application to Yonsei University is reviewed by the Programme Directors at both universities, who reach a joint decision.</a:t>
            </a:r>
            <a:endParaRPr/>
          </a:p>
        </p:txBody>
      </p:sp>
      <p:sp>
        <p:nvSpPr>
          <p:cNvPr id="281" name="Google Shape;281;p12"/>
          <p:cNvSpPr/>
          <p:nvPr/>
        </p:nvSpPr>
        <p:spPr>
          <a:xfrm>
            <a:off x="648000" y="1620000"/>
            <a:ext cx="2006402" cy="4536000"/>
          </a:xfrm>
          <a:prstGeom prst="rect">
            <a:avLst/>
          </a:prstGeom>
          <a:solidFill>
            <a:srgbClr val="EAEEF5"/>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2" name="Google Shape;282;p12"/>
          <p:cNvSpPr txBox="1"/>
          <p:nvPr/>
        </p:nvSpPr>
        <p:spPr>
          <a:xfrm>
            <a:off x="810000" y="1800000"/>
            <a:ext cx="792000"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600" b="1" i="0" u="none" strike="noStrike" cap="none">
                <a:solidFill>
                  <a:srgbClr val="AAB5C8"/>
                </a:solidFill>
                <a:latin typeface="Arial Narrow"/>
                <a:ea typeface="Arial Narrow"/>
                <a:cs typeface="Arial Narrow"/>
                <a:sym typeface="Arial Narrow"/>
              </a:rPr>
              <a:t>01</a:t>
            </a:r>
            <a:endParaRPr/>
          </a:p>
        </p:txBody>
      </p:sp>
      <p:sp>
        <p:nvSpPr>
          <p:cNvPr id="283" name="Google Shape;283;p12"/>
          <p:cNvSpPr txBox="1"/>
          <p:nvPr/>
        </p:nvSpPr>
        <p:spPr>
          <a:xfrm>
            <a:off x="810000" y="2322000"/>
            <a:ext cx="1682402" cy="3600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300" b="1" i="0" u="none" strike="noStrike" cap="none">
                <a:solidFill>
                  <a:srgbClr val="133267"/>
                </a:solidFill>
                <a:latin typeface="Arial Narrow"/>
                <a:ea typeface="Arial Narrow"/>
                <a:cs typeface="Arial Narrow"/>
                <a:sym typeface="Arial Narrow"/>
              </a:rPr>
              <a:t>Apply through Yonsei University</a:t>
            </a:r>
            <a:endParaRPr/>
          </a:p>
          <a:p>
            <a:pPr marL="0" marR="0" lvl="0" indent="0" algn="l" rtl="0">
              <a:lnSpc>
                <a:spcPct val="166140"/>
              </a:lnSpc>
              <a:spcBef>
                <a:spcPts val="400"/>
              </a:spcBef>
              <a:spcAft>
                <a:spcPts val="0"/>
              </a:spcAft>
              <a:buNone/>
            </a:pPr>
            <a:r>
              <a:rPr lang="en-US" sz="1150" b="0" i="0" u="none" strike="noStrike" cap="none">
                <a:solidFill>
                  <a:srgbClr val="4F4C4D"/>
                </a:solidFill>
                <a:latin typeface="Arial"/>
                <a:ea typeface="Arial"/>
                <a:cs typeface="Arial"/>
                <a:sym typeface="Arial"/>
              </a:rPr>
              <a:t>Applicants apply through Yonsei University’s online application system and pay the application fee.</a:t>
            </a:r>
            <a:endParaRPr/>
          </a:p>
        </p:txBody>
      </p:sp>
      <p:sp>
        <p:nvSpPr>
          <p:cNvPr id="284" name="Google Shape;284;p12"/>
          <p:cNvSpPr/>
          <p:nvPr/>
        </p:nvSpPr>
        <p:spPr>
          <a:xfrm>
            <a:off x="2704802" y="3805200"/>
            <a:ext cx="115200" cy="165600"/>
          </a:xfrm>
          <a:prstGeom prst="rightArrow">
            <a:avLst>
              <a:gd name="adj1" fmla="val 50000"/>
              <a:gd name="adj2" fmla="val 50000"/>
            </a:avLst>
          </a:prstGeom>
          <a:solidFill>
            <a:srgbClr val="AAB5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5" name="Google Shape;285;p12"/>
          <p:cNvSpPr/>
          <p:nvPr/>
        </p:nvSpPr>
        <p:spPr>
          <a:xfrm>
            <a:off x="2870402" y="1620000"/>
            <a:ext cx="2006402" cy="4536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6" name="Google Shape;286;p12"/>
          <p:cNvSpPr txBox="1"/>
          <p:nvPr/>
        </p:nvSpPr>
        <p:spPr>
          <a:xfrm>
            <a:off x="3032402" y="1800000"/>
            <a:ext cx="792000"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600" b="1" i="0" u="none" strike="noStrike" cap="none">
                <a:solidFill>
                  <a:srgbClr val="AAB5C8"/>
                </a:solidFill>
                <a:latin typeface="Arial Narrow"/>
                <a:ea typeface="Arial Narrow"/>
                <a:cs typeface="Arial Narrow"/>
                <a:sym typeface="Arial Narrow"/>
              </a:rPr>
              <a:t>02</a:t>
            </a:r>
            <a:endParaRPr/>
          </a:p>
        </p:txBody>
      </p:sp>
      <p:sp>
        <p:nvSpPr>
          <p:cNvPr id="287" name="Google Shape;287;p12"/>
          <p:cNvSpPr txBox="1"/>
          <p:nvPr/>
        </p:nvSpPr>
        <p:spPr>
          <a:xfrm>
            <a:off x="3032402" y="2322000"/>
            <a:ext cx="1682402" cy="3600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300" b="1" i="0" u="none" strike="noStrike" cap="none">
                <a:solidFill>
                  <a:srgbClr val="133267"/>
                </a:solidFill>
                <a:latin typeface="Arial Narrow"/>
                <a:ea typeface="Arial Narrow"/>
                <a:cs typeface="Arial Narrow"/>
                <a:sym typeface="Arial Narrow"/>
              </a:rPr>
              <a:t>Independent review, joint decision</a:t>
            </a:r>
            <a:endParaRPr/>
          </a:p>
          <a:p>
            <a:pPr marL="0" marR="0" lvl="0" indent="0" algn="l" rtl="0">
              <a:lnSpc>
                <a:spcPct val="166140"/>
              </a:lnSpc>
              <a:spcBef>
                <a:spcPts val="400"/>
              </a:spcBef>
              <a:spcAft>
                <a:spcPts val="0"/>
              </a:spcAft>
              <a:buNone/>
            </a:pPr>
            <a:r>
              <a:rPr lang="en-US" sz="1150" b="0" i="0" u="none" strike="noStrike" cap="none">
                <a:solidFill>
                  <a:srgbClr val="4F4C4D"/>
                </a:solidFill>
                <a:latin typeface="Arial"/>
                <a:ea typeface="Arial"/>
                <a:cs typeface="Arial"/>
                <a:sym typeface="Arial"/>
              </a:rPr>
              <a:t>The Programme Directors at both universities review each application independently and then jointly decide whether the applicant should be admitted, conditionally admitted, placed on a waiting list, or rejected.</a:t>
            </a:r>
            <a:endParaRPr/>
          </a:p>
        </p:txBody>
      </p:sp>
      <p:sp>
        <p:nvSpPr>
          <p:cNvPr id="288" name="Google Shape;288;p12"/>
          <p:cNvSpPr/>
          <p:nvPr/>
        </p:nvSpPr>
        <p:spPr>
          <a:xfrm>
            <a:off x="4927205" y="3805200"/>
            <a:ext cx="115200" cy="165600"/>
          </a:xfrm>
          <a:prstGeom prst="rightArrow">
            <a:avLst>
              <a:gd name="adj1" fmla="val 50000"/>
              <a:gd name="adj2" fmla="val 50000"/>
            </a:avLst>
          </a:prstGeom>
          <a:solidFill>
            <a:srgbClr val="AAB5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89" name="Google Shape;289;p12"/>
          <p:cNvSpPr/>
          <p:nvPr/>
        </p:nvSpPr>
        <p:spPr>
          <a:xfrm>
            <a:off x="5092805" y="1620000"/>
            <a:ext cx="2006402" cy="4536000"/>
          </a:xfrm>
          <a:prstGeom prst="rect">
            <a:avLst/>
          </a:prstGeom>
          <a:solidFill>
            <a:srgbClr val="EAEEF5"/>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0" name="Google Shape;290;p12"/>
          <p:cNvSpPr txBox="1"/>
          <p:nvPr/>
        </p:nvSpPr>
        <p:spPr>
          <a:xfrm>
            <a:off x="5254805" y="1800000"/>
            <a:ext cx="792000"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600" b="1" i="0" u="none" strike="noStrike" cap="none">
                <a:solidFill>
                  <a:srgbClr val="AAB5C8"/>
                </a:solidFill>
                <a:latin typeface="Arial Narrow"/>
                <a:ea typeface="Arial Narrow"/>
                <a:cs typeface="Arial Narrow"/>
                <a:sym typeface="Arial Narrow"/>
              </a:rPr>
              <a:t>03</a:t>
            </a:r>
            <a:endParaRPr/>
          </a:p>
        </p:txBody>
      </p:sp>
      <p:sp>
        <p:nvSpPr>
          <p:cNvPr id="291" name="Google Shape;291;p12"/>
          <p:cNvSpPr txBox="1"/>
          <p:nvPr/>
        </p:nvSpPr>
        <p:spPr>
          <a:xfrm>
            <a:off x="5254805" y="2322000"/>
            <a:ext cx="1682402" cy="3600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300" b="1" i="0" u="none" strike="noStrike" cap="none">
                <a:solidFill>
                  <a:srgbClr val="133267"/>
                </a:solidFill>
                <a:latin typeface="Arial Narrow"/>
                <a:ea typeface="Arial Narrow"/>
                <a:cs typeface="Arial Narrow"/>
                <a:sym typeface="Arial Narrow"/>
              </a:rPr>
              <a:t>Notification by Yonsei University</a:t>
            </a:r>
            <a:endParaRPr/>
          </a:p>
          <a:p>
            <a:pPr marL="0" marR="0" lvl="0" indent="0" algn="l" rtl="0">
              <a:lnSpc>
                <a:spcPct val="166140"/>
              </a:lnSpc>
              <a:spcBef>
                <a:spcPts val="400"/>
              </a:spcBef>
              <a:spcAft>
                <a:spcPts val="0"/>
              </a:spcAft>
              <a:buNone/>
            </a:pPr>
            <a:r>
              <a:rPr lang="en-US" sz="1150" b="0" i="0" u="none" strike="noStrike" cap="none">
                <a:solidFill>
                  <a:srgbClr val="4F4C4D"/>
                </a:solidFill>
                <a:latin typeface="Arial"/>
                <a:ea typeface="Arial"/>
                <a:cs typeface="Arial"/>
                <a:sym typeface="Arial"/>
              </a:rPr>
              <a:t>Yonsei University’s administrative office formally notifies applicants of the final decision.</a:t>
            </a:r>
            <a:endParaRPr/>
          </a:p>
        </p:txBody>
      </p:sp>
      <p:sp>
        <p:nvSpPr>
          <p:cNvPr id="292" name="Google Shape;292;p12"/>
          <p:cNvSpPr/>
          <p:nvPr/>
        </p:nvSpPr>
        <p:spPr>
          <a:xfrm>
            <a:off x="7149607" y="3805200"/>
            <a:ext cx="115200" cy="165600"/>
          </a:xfrm>
          <a:prstGeom prst="rightArrow">
            <a:avLst>
              <a:gd name="adj1" fmla="val 50000"/>
              <a:gd name="adj2" fmla="val 50000"/>
            </a:avLst>
          </a:prstGeom>
          <a:solidFill>
            <a:srgbClr val="AAB5C8"/>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3" name="Google Shape;293;p12"/>
          <p:cNvSpPr/>
          <p:nvPr/>
        </p:nvSpPr>
        <p:spPr>
          <a:xfrm>
            <a:off x="7315207" y="1620000"/>
            <a:ext cx="2006402" cy="4536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94" name="Google Shape;294;p12"/>
          <p:cNvSpPr txBox="1"/>
          <p:nvPr/>
        </p:nvSpPr>
        <p:spPr>
          <a:xfrm>
            <a:off x="7477207" y="1800000"/>
            <a:ext cx="792000"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600" b="1" i="0" u="none" strike="noStrike" cap="none">
                <a:solidFill>
                  <a:srgbClr val="AAB5C8"/>
                </a:solidFill>
                <a:latin typeface="Arial Narrow"/>
                <a:ea typeface="Arial Narrow"/>
                <a:cs typeface="Arial Narrow"/>
                <a:sym typeface="Arial Narrow"/>
              </a:rPr>
              <a:t>04</a:t>
            </a:r>
            <a:endParaRPr/>
          </a:p>
        </p:txBody>
      </p:sp>
      <p:sp>
        <p:nvSpPr>
          <p:cNvPr id="299" name="Google Shape;299;p12"/>
          <p:cNvSpPr txBox="1"/>
          <p:nvPr/>
        </p:nvSpPr>
        <p:spPr>
          <a:xfrm>
            <a:off x="7477207" y="2394000"/>
            <a:ext cx="1682402" cy="3600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300" b="1" i="0" u="none" strike="noStrike" cap="none" dirty="0">
                <a:solidFill>
                  <a:srgbClr val="133267"/>
                </a:solidFill>
                <a:latin typeface="Arial Narrow"/>
                <a:ea typeface="Arial Narrow"/>
                <a:cs typeface="Arial Narrow"/>
                <a:sym typeface="Arial Narrow"/>
              </a:rPr>
              <a:t>Offer letters from both universities</a:t>
            </a:r>
            <a:endParaRPr dirty="0"/>
          </a:p>
          <a:p>
            <a:pPr marL="0" marR="0" lvl="0" indent="0" algn="l" rtl="0">
              <a:lnSpc>
                <a:spcPct val="166140"/>
              </a:lnSpc>
              <a:spcBef>
                <a:spcPts val="400"/>
              </a:spcBef>
              <a:spcAft>
                <a:spcPts val="0"/>
              </a:spcAft>
              <a:buNone/>
            </a:pPr>
            <a:r>
              <a:rPr lang="en-US" sz="1150" b="0" i="0" u="none" strike="noStrike" cap="none" dirty="0">
                <a:solidFill>
                  <a:srgbClr val="4F4C4D"/>
                </a:solidFill>
                <a:latin typeface="Arial"/>
                <a:ea typeface="Arial"/>
                <a:cs typeface="Arial"/>
                <a:sym typeface="Arial"/>
              </a:rPr>
              <a:t>Yonsei University and LSE each issue their own final offer letter and relevant admissions information.</a:t>
            </a:r>
            <a:endParaRPr dirty="0"/>
          </a:p>
        </p:txBody>
      </p:sp>
      <p:sp>
        <p:nvSpPr>
          <p:cNvPr id="300" name="Google Shape;300;p12"/>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3"/>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Tuition Fees &amp; Other Costs</a:t>
            </a:r>
            <a:endParaRPr/>
          </a:p>
        </p:txBody>
      </p:sp>
      <p:sp>
        <p:nvSpPr>
          <p:cNvPr id="307" name="Google Shape;307;p13"/>
          <p:cNvSpPr txBox="1"/>
          <p:nvPr/>
        </p:nvSpPr>
        <p:spPr>
          <a:xfrm>
            <a:off x="648000" y="972000"/>
            <a:ext cx="10896012" cy="288000"/>
          </a:xfrm>
          <a:prstGeom prst="rect">
            <a:avLst/>
          </a:prstGeom>
          <a:noFill/>
          <a:ln>
            <a:noFill/>
          </a:ln>
        </p:spPr>
        <p:txBody>
          <a:bodyPr spcFirstLastPara="1" wrap="square" lIns="0" tIns="0" rIns="0" bIns="0" anchor="t" anchorCtr="0">
            <a:spAutoFit/>
          </a:bodyPr>
          <a:lstStyle/>
          <a:p>
            <a:pPr marL="0" marR="0" lvl="0" indent="0" algn="l" rtl="0">
              <a:lnSpc>
                <a:spcPct val="163800"/>
              </a:lnSpc>
              <a:spcBef>
                <a:spcPts val="0"/>
              </a:spcBef>
              <a:spcAft>
                <a:spcPts val="0"/>
              </a:spcAft>
              <a:buNone/>
            </a:pPr>
            <a:r>
              <a:rPr lang="en-US" sz="1200" b="0" i="0" u="none" strike="noStrike" cap="none">
                <a:solidFill>
                  <a:srgbClr val="4F4C4D"/>
                </a:solidFill>
                <a:latin typeface="Arial"/>
                <a:ea typeface="Arial"/>
                <a:cs typeface="Arial"/>
                <a:sym typeface="Arial"/>
              </a:rPr>
              <a:t>Students pay tuition fees to the university at which they are registered during each year of the programme.</a:t>
            </a:r>
            <a:endParaRPr/>
          </a:p>
        </p:txBody>
      </p:sp>
      <p:sp>
        <p:nvSpPr>
          <p:cNvPr id="308" name="Google Shape;308;p13"/>
          <p:cNvSpPr/>
          <p:nvPr/>
        </p:nvSpPr>
        <p:spPr>
          <a:xfrm>
            <a:off x="648000" y="1512000"/>
            <a:ext cx="5304006" cy="2592000"/>
          </a:xfrm>
          <a:prstGeom prst="rect">
            <a:avLst/>
          </a:prstGeom>
          <a:solidFill>
            <a:srgbClr val="EAEEF5"/>
          </a:solidFill>
          <a:ln>
            <a:noFill/>
          </a:ln>
        </p:spPr>
        <p:txBody>
          <a:bodyPr spcFirstLastPara="1" wrap="square" lIns="203200" tIns="203200" rIns="203200" bIns="190500" anchor="t" anchorCtr="0">
            <a:noAutofit/>
          </a:bodyPr>
          <a:lstStyle/>
          <a:p>
            <a:pPr marL="0" marR="0" lvl="0" indent="0" algn="l" rtl="0">
              <a:lnSpc>
                <a:spcPct val="128700"/>
              </a:lnSpc>
              <a:spcBef>
                <a:spcPts val="0"/>
              </a:spcBef>
              <a:spcAft>
                <a:spcPts val="0"/>
              </a:spcAft>
              <a:buNone/>
            </a:pPr>
            <a:r>
              <a:rPr lang="en-US" sz="1150" b="1" i="0" u="none" strike="noStrike" cap="none" spc="100">
                <a:solidFill>
                  <a:srgbClr val="133267"/>
                </a:solidFill>
                <a:latin typeface="Arial Narrow"/>
                <a:ea typeface="Arial Narrow"/>
                <a:cs typeface="Arial Narrow"/>
                <a:sym typeface="Arial Narrow"/>
              </a:rPr>
              <a:t>YEAR 1</a:t>
            </a:r>
            <a:endParaRPr/>
          </a:p>
          <a:p>
            <a:pPr marL="0" marR="0" lvl="0" indent="0" algn="l" rtl="0">
              <a:lnSpc>
                <a:spcPct val="146250"/>
              </a:lnSpc>
              <a:spcBef>
                <a:spcPts val="400"/>
              </a:spcBef>
              <a:spcAft>
                <a:spcPts val="0"/>
              </a:spcAft>
              <a:buNone/>
            </a:pPr>
            <a:r>
              <a:rPr lang="en-US" sz="1300" b="1" i="0" u="none" strike="noStrike" cap="none">
                <a:solidFill>
                  <a:srgbClr val="231F20"/>
                </a:solidFill>
                <a:latin typeface="Arial"/>
                <a:ea typeface="Arial"/>
                <a:cs typeface="Arial"/>
                <a:sym typeface="Arial"/>
              </a:rPr>
              <a:t>Yonsei University</a:t>
            </a:r>
            <a:endParaRPr/>
          </a:p>
          <a:p>
            <a:pPr marL="0" marR="0" lvl="0" indent="0" algn="l" rtl="0">
              <a:lnSpc>
                <a:spcPct val="134550"/>
              </a:lnSpc>
              <a:spcBef>
                <a:spcPts val="1000"/>
              </a:spcBef>
              <a:spcAft>
                <a:spcPts val="0"/>
              </a:spcAft>
              <a:buNone/>
            </a:pPr>
            <a:r>
              <a:rPr lang="en-US" sz="3000" b="1" i="0" u="none" strike="noStrike" cap="none">
                <a:solidFill>
                  <a:srgbClr val="133267"/>
                </a:solidFill>
                <a:latin typeface="Arial Narrow"/>
                <a:ea typeface="Arial Narrow"/>
                <a:cs typeface="Arial Narrow"/>
                <a:sym typeface="Arial Narrow"/>
              </a:rPr>
              <a:t>≈ £19,700          </a:t>
            </a:r>
            <a:r>
              <a:rPr lang="en-US" sz="1400" b="0" i="0" u="none" strike="noStrike" cap="none">
                <a:solidFill>
                  <a:srgbClr val="133267"/>
                </a:solidFill>
                <a:latin typeface="Arial Narrow"/>
                <a:ea typeface="Arial Narrow"/>
                <a:cs typeface="Arial Narrow"/>
                <a:sym typeface="Arial Narrow"/>
              </a:rPr>
              <a:t>(KRW 35,000,000)</a:t>
            </a:r>
            <a:br>
              <a:rPr lang="en-US" sz="1400" b="0" i="0" u="none" strike="noStrike" cap="none">
                <a:solidFill>
                  <a:srgbClr val="133267"/>
                </a:solidFill>
                <a:latin typeface="Arial Narrow"/>
                <a:ea typeface="Arial Narrow"/>
                <a:cs typeface="Arial Narrow"/>
                <a:sym typeface="Arial Narrow"/>
              </a:rPr>
            </a:br>
            <a:r>
              <a:rPr lang="en-US" sz="1000" b="0" i="0" u="none" strike="noStrike" cap="none">
                <a:solidFill>
                  <a:srgbClr val="133267"/>
                </a:solidFill>
                <a:latin typeface="Arial Narrow"/>
                <a:ea typeface="Arial Narrow"/>
                <a:cs typeface="Arial Narrow"/>
                <a:sym typeface="Arial Narrow"/>
              </a:rPr>
              <a:t>(current FX rate, as of October 2026)</a:t>
            </a:r>
            <a:endParaRPr sz="1000" b="0" i="0" u="none" strike="noStrike" cap="none">
              <a:solidFill>
                <a:srgbClr val="133267"/>
              </a:solidFill>
              <a:latin typeface="Arial Narrow"/>
              <a:ea typeface="Arial Narrow"/>
              <a:cs typeface="Arial Narrow"/>
              <a:sym typeface="Arial Narrow"/>
            </a:endParaRPr>
          </a:p>
          <a:p>
            <a:pPr marL="0" marR="0" lvl="0" indent="0" algn="l" rtl="0">
              <a:lnSpc>
                <a:spcPct val="163800"/>
              </a:lnSpc>
              <a:spcBef>
                <a:spcPts val="900"/>
              </a:spcBef>
              <a:spcAft>
                <a:spcPts val="0"/>
              </a:spcAft>
              <a:buNone/>
            </a:pPr>
            <a:r>
              <a:rPr lang="en-US" sz="1100" b="0" i="0" u="none" strike="noStrike" cap="none">
                <a:solidFill>
                  <a:srgbClr val="4F4C4D"/>
                </a:solidFill>
                <a:latin typeface="Arial"/>
                <a:ea typeface="Arial"/>
                <a:cs typeface="Arial"/>
                <a:sym typeface="Arial"/>
              </a:rPr>
              <a:t>Payable in four instalments over four semesters in order to maintain registration at Yonsei University.</a:t>
            </a:r>
            <a:endParaRPr/>
          </a:p>
        </p:txBody>
      </p:sp>
      <p:sp>
        <p:nvSpPr>
          <p:cNvPr id="309" name="Google Shape;309;p13"/>
          <p:cNvSpPr/>
          <p:nvPr/>
        </p:nvSpPr>
        <p:spPr>
          <a:xfrm>
            <a:off x="648000" y="1512000"/>
            <a:ext cx="5304006"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0" name="Google Shape;310;p13"/>
          <p:cNvSpPr/>
          <p:nvPr/>
        </p:nvSpPr>
        <p:spPr>
          <a:xfrm>
            <a:off x="6240006" y="1512000"/>
            <a:ext cx="5304006" cy="2592000"/>
          </a:xfrm>
          <a:prstGeom prst="rect">
            <a:avLst/>
          </a:prstGeom>
          <a:solidFill>
            <a:srgbClr val="F6EBEE"/>
          </a:solidFill>
          <a:ln>
            <a:noFill/>
          </a:ln>
        </p:spPr>
        <p:txBody>
          <a:bodyPr spcFirstLastPara="1" wrap="square" lIns="203200" tIns="203200" rIns="203200" bIns="190500" anchor="t" anchorCtr="0">
            <a:noAutofit/>
          </a:bodyPr>
          <a:lstStyle/>
          <a:p>
            <a:pPr marL="0" marR="0" lvl="0" indent="0" algn="l" rtl="0">
              <a:lnSpc>
                <a:spcPct val="128700"/>
              </a:lnSpc>
              <a:spcBef>
                <a:spcPts val="0"/>
              </a:spcBef>
              <a:spcAft>
                <a:spcPts val="0"/>
              </a:spcAft>
              <a:buNone/>
            </a:pPr>
            <a:r>
              <a:rPr lang="en-US" sz="1150" b="1" i="0" u="none" strike="noStrike" cap="none" spc="100">
                <a:solidFill>
                  <a:srgbClr val="A4243B"/>
                </a:solidFill>
                <a:latin typeface="Arial Narrow"/>
                <a:ea typeface="Arial Narrow"/>
                <a:cs typeface="Arial Narrow"/>
                <a:sym typeface="Arial Narrow"/>
              </a:rPr>
              <a:t>YEAR 2</a:t>
            </a:r>
            <a:endParaRPr/>
          </a:p>
          <a:p>
            <a:pPr marL="0" marR="0" lvl="0" indent="0" algn="l" rtl="0">
              <a:lnSpc>
                <a:spcPct val="146250"/>
              </a:lnSpc>
              <a:spcBef>
                <a:spcPts val="400"/>
              </a:spcBef>
              <a:spcAft>
                <a:spcPts val="0"/>
              </a:spcAft>
              <a:buNone/>
            </a:pPr>
            <a:r>
              <a:rPr lang="en-US" sz="1300" b="1" i="0" u="none" strike="noStrike" cap="none">
                <a:solidFill>
                  <a:srgbClr val="231F20"/>
                </a:solidFill>
                <a:latin typeface="Arial"/>
                <a:ea typeface="Arial"/>
                <a:cs typeface="Arial"/>
                <a:sym typeface="Arial"/>
              </a:rPr>
              <a:t>London School of Economics</a:t>
            </a:r>
            <a:endParaRPr/>
          </a:p>
          <a:p>
            <a:pPr marL="0" marR="0" lvl="0" indent="0" algn="l" rtl="0">
              <a:lnSpc>
                <a:spcPct val="134550"/>
              </a:lnSpc>
              <a:spcBef>
                <a:spcPts val="1000"/>
              </a:spcBef>
              <a:spcAft>
                <a:spcPts val="0"/>
              </a:spcAft>
              <a:buNone/>
            </a:pPr>
            <a:r>
              <a:rPr lang="en-US" sz="3000" b="1" i="0" u="none" strike="noStrike" cap="none">
                <a:solidFill>
                  <a:srgbClr val="133267"/>
                </a:solidFill>
                <a:latin typeface="Arial Narrow"/>
                <a:ea typeface="Arial Narrow"/>
                <a:cs typeface="Arial Narrow"/>
                <a:sym typeface="Arial Narrow"/>
              </a:rPr>
              <a:t>£43,100</a:t>
            </a:r>
            <a:endParaRPr sz="3000" b="1" i="0" u="none" strike="noStrike" cap="none">
              <a:solidFill>
                <a:srgbClr val="133267"/>
              </a:solidFill>
              <a:latin typeface="Arial Narrow"/>
              <a:ea typeface="Arial Narrow"/>
              <a:cs typeface="Arial Narrow"/>
              <a:sym typeface="Arial Narrow"/>
            </a:endParaRPr>
          </a:p>
          <a:p>
            <a:pPr marL="0" marR="0" lvl="0" indent="0" algn="l" rtl="0">
              <a:lnSpc>
                <a:spcPct val="163800"/>
              </a:lnSpc>
              <a:spcBef>
                <a:spcPts val="900"/>
              </a:spcBef>
              <a:spcAft>
                <a:spcPts val="0"/>
              </a:spcAft>
              <a:buNone/>
            </a:pPr>
            <a:br>
              <a:rPr lang="en-US" sz="1100" b="0" i="0" u="none" strike="noStrike" cap="none">
                <a:solidFill>
                  <a:srgbClr val="4F4C4D"/>
                </a:solidFill>
                <a:latin typeface="Arial"/>
                <a:ea typeface="Arial"/>
                <a:cs typeface="Arial"/>
                <a:sym typeface="Arial"/>
              </a:rPr>
            </a:br>
            <a:r>
              <a:rPr lang="en-US" sz="1100" b="0" i="0" u="none" strike="noStrike" cap="none">
                <a:solidFill>
                  <a:srgbClr val="4F4C4D"/>
                </a:solidFill>
                <a:latin typeface="Arial"/>
                <a:ea typeface="Arial"/>
                <a:cs typeface="Arial"/>
                <a:sym typeface="Arial"/>
              </a:rPr>
              <a:t>Tuition fee for the MSc in Economics (Advanced Topics) at LSE in 2027/28 Academic Year. Subject to change.</a:t>
            </a:r>
            <a:endParaRPr sz="1100" b="0" i="0" u="none" strike="noStrike" cap="none">
              <a:solidFill>
                <a:srgbClr val="4F4C4D"/>
              </a:solidFill>
              <a:latin typeface="Arial"/>
              <a:ea typeface="Arial"/>
              <a:cs typeface="Arial"/>
              <a:sym typeface="Arial"/>
            </a:endParaRPr>
          </a:p>
        </p:txBody>
      </p:sp>
      <p:sp>
        <p:nvSpPr>
          <p:cNvPr id="311" name="Google Shape;311;p13"/>
          <p:cNvSpPr/>
          <p:nvPr/>
        </p:nvSpPr>
        <p:spPr>
          <a:xfrm>
            <a:off x="6240006" y="1512000"/>
            <a:ext cx="5304006"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2" name="Google Shape;312;p13"/>
          <p:cNvSpPr txBox="1"/>
          <p:nvPr/>
        </p:nvSpPr>
        <p:spPr>
          <a:xfrm>
            <a:off x="648000" y="4392000"/>
            <a:ext cx="10896012" cy="230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00" b="1" i="0" u="none" strike="noStrike" cap="none">
                <a:solidFill>
                  <a:srgbClr val="133267"/>
                </a:solidFill>
                <a:latin typeface="Arial Narrow"/>
                <a:ea typeface="Arial Narrow"/>
                <a:cs typeface="Arial Narrow"/>
                <a:sym typeface="Arial Narrow"/>
              </a:rPr>
              <a:t>Costs payable separately by students</a:t>
            </a:r>
            <a:endParaRPr/>
          </a:p>
        </p:txBody>
      </p:sp>
      <p:sp>
        <p:nvSpPr>
          <p:cNvPr id="313" name="Google Shape;313;p13"/>
          <p:cNvSpPr/>
          <p:nvPr/>
        </p:nvSpPr>
        <p:spPr>
          <a:xfrm>
            <a:off x="648000" y="4644000"/>
            <a:ext cx="10896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4" name="Google Shape;314;p13"/>
          <p:cNvSpPr/>
          <p:nvPr/>
        </p:nvSpPr>
        <p:spPr>
          <a:xfrm>
            <a:off x="648000" y="4842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5" name="Google Shape;315;p13"/>
          <p:cNvSpPr txBox="1"/>
          <p:nvPr/>
        </p:nvSpPr>
        <p:spPr>
          <a:xfrm>
            <a:off x="810000" y="4932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Application fees</a:t>
            </a:r>
            <a:endParaRPr/>
          </a:p>
        </p:txBody>
      </p:sp>
      <p:sp>
        <p:nvSpPr>
          <p:cNvPr id="316" name="Google Shape;316;p13"/>
          <p:cNvSpPr/>
          <p:nvPr/>
        </p:nvSpPr>
        <p:spPr>
          <a:xfrm>
            <a:off x="648000" y="5400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7" name="Google Shape;317;p13"/>
          <p:cNvSpPr txBox="1"/>
          <p:nvPr/>
        </p:nvSpPr>
        <p:spPr>
          <a:xfrm>
            <a:off x="810000" y="5490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Airfare and other transportation costs</a:t>
            </a:r>
            <a:endParaRPr/>
          </a:p>
        </p:txBody>
      </p:sp>
      <p:sp>
        <p:nvSpPr>
          <p:cNvPr id="318" name="Google Shape;318;p13"/>
          <p:cNvSpPr/>
          <p:nvPr/>
        </p:nvSpPr>
        <p:spPr>
          <a:xfrm>
            <a:off x="4376004" y="4842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19" name="Google Shape;319;p13"/>
          <p:cNvSpPr txBox="1"/>
          <p:nvPr/>
        </p:nvSpPr>
        <p:spPr>
          <a:xfrm>
            <a:off x="4538004" y="4932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Travel and health insurance</a:t>
            </a:r>
            <a:endParaRPr/>
          </a:p>
        </p:txBody>
      </p:sp>
      <p:sp>
        <p:nvSpPr>
          <p:cNvPr id="320" name="Google Shape;320;p13"/>
          <p:cNvSpPr/>
          <p:nvPr/>
        </p:nvSpPr>
        <p:spPr>
          <a:xfrm>
            <a:off x="4376004" y="5400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21" name="Google Shape;321;p13"/>
          <p:cNvSpPr txBox="1"/>
          <p:nvPr/>
        </p:nvSpPr>
        <p:spPr>
          <a:xfrm>
            <a:off x="4538004" y="5490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Textbooks and educational supplies</a:t>
            </a:r>
            <a:endParaRPr/>
          </a:p>
        </p:txBody>
      </p:sp>
      <p:sp>
        <p:nvSpPr>
          <p:cNvPr id="322" name="Google Shape;322;p13"/>
          <p:cNvSpPr/>
          <p:nvPr/>
        </p:nvSpPr>
        <p:spPr>
          <a:xfrm>
            <a:off x="8104008" y="4842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23" name="Google Shape;323;p13"/>
          <p:cNvSpPr txBox="1"/>
          <p:nvPr/>
        </p:nvSpPr>
        <p:spPr>
          <a:xfrm>
            <a:off x="8266008" y="4932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Accommodation and living expenses</a:t>
            </a:r>
            <a:endParaRPr/>
          </a:p>
        </p:txBody>
      </p:sp>
      <p:sp>
        <p:nvSpPr>
          <p:cNvPr id="324" name="Google Shape;324;p13"/>
          <p:cNvSpPr/>
          <p:nvPr/>
        </p:nvSpPr>
        <p:spPr>
          <a:xfrm>
            <a:off x="8104008" y="5400000"/>
            <a:ext cx="3440004" cy="43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25" name="Google Shape;325;p13"/>
          <p:cNvSpPr txBox="1"/>
          <p:nvPr/>
        </p:nvSpPr>
        <p:spPr>
          <a:xfrm>
            <a:off x="8266008" y="5490000"/>
            <a:ext cx="3116004" cy="252000"/>
          </a:xfrm>
          <a:prstGeom prst="rect">
            <a:avLst/>
          </a:prstGeom>
          <a:noFill/>
          <a:ln>
            <a:noFill/>
          </a:ln>
        </p:spPr>
        <p:txBody>
          <a:bodyPr spcFirstLastPara="1" wrap="square" lIns="0" tIns="0" rIns="0" bIns="0" anchor="t" anchorCtr="0">
            <a:spAutoFit/>
          </a:bodyPr>
          <a:lstStyle/>
          <a:p>
            <a:pPr marL="0" marR="0" lvl="0" indent="0" algn="l" rtl="0">
              <a:lnSpc>
                <a:spcPct val="140400"/>
              </a:lnSpc>
              <a:spcBef>
                <a:spcPts val="0"/>
              </a:spcBef>
              <a:spcAft>
                <a:spcPts val="0"/>
              </a:spcAft>
              <a:buNone/>
            </a:pPr>
            <a:r>
              <a:rPr lang="en-US" sz="1250" b="0" i="0" u="none" strike="noStrike" cap="none">
                <a:solidFill>
                  <a:srgbClr val="231F20"/>
                </a:solidFill>
                <a:latin typeface="Arial"/>
                <a:ea typeface="Arial"/>
                <a:cs typeface="Arial"/>
                <a:sym typeface="Arial"/>
              </a:rPr>
              <a:t>Visa and other immigration-related costs</a:t>
            </a:r>
            <a:endParaRPr/>
          </a:p>
        </p:txBody>
      </p:sp>
      <p:sp>
        <p:nvSpPr>
          <p:cNvPr id="326" name="Google Shape;326;p13"/>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14"/>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Important Information</a:t>
            </a:r>
            <a:endParaRPr/>
          </a:p>
        </p:txBody>
      </p:sp>
      <p:sp>
        <p:nvSpPr>
          <p:cNvPr id="333" name="Google Shape;333;p14"/>
          <p:cNvSpPr/>
          <p:nvPr/>
        </p:nvSpPr>
        <p:spPr>
          <a:xfrm>
            <a:off x="648000" y="1080000"/>
            <a:ext cx="5304006" cy="187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350" b="1" i="0" u="none" strike="noStrike" cap="none">
                <a:solidFill>
                  <a:srgbClr val="133267"/>
                </a:solidFill>
                <a:latin typeface="Arial Narrow"/>
                <a:ea typeface="Arial Narrow"/>
                <a:cs typeface="Arial Narrow"/>
                <a:sym typeface="Arial Narrow"/>
              </a:rPr>
              <a:t>Deferral of entry</a:t>
            </a:r>
            <a:endParaRPr/>
          </a:p>
          <a:p>
            <a:pPr marL="0" marR="0" lvl="0" indent="0" algn="l" rtl="0">
              <a:lnSpc>
                <a:spcPct val="169650"/>
              </a:lnSpc>
              <a:spcBef>
                <a:spcPts val="500"/>
              </a:spcBef>
              <a:spcAft>
                <a:spcPts val="0"/>
              </a:spcAft>
              <a:buNone/>
            </a:pPr>
            <a:r>
              <a:rPr lang="en-US" sz="1250" b="0" i="0" u="none" strike="noStrike" cap="none">
                <a:solidFill>
                  <a:srgbClr val="231F20"/>
                </a:solidFill>
                <a:latin typeface="Arial"/>
                <a:ea typeface="Arial"/>
                <a:cs typeface="Arial"/>
                <a:sym typeface="Arial"/>
              </a:rPr>
              <a:t>Deferral of entry after admission is not normally permitted. In exceptional cases involving unforeseen personal circumstances, such as bereavement or health issues, a deferral may be granted at the discretion of both universities.</a:t>
            </a:r>
            <a:endParaRPr/>
          </a:p>
        </p:txBody>
      </p:sp>
      <p:sp>
        <p:nvSpPr>
          <p:cNvPr id="334" name="Google Shape;334;p14"/>
          <p:cNvSpPr/>
          <p:nvPr/>
        </p:nvSpPr>
        <p:spPr>
          <a:xfrm>
            <a:off x="6240006" y="1080000"/>
            <a:ext cx="5304006" cy="187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350" b="1" i="0" u="none" strike="noStrike" cap="none">
                <a:solidFill>
                  <a:srgbClr val="133267"/>
                </a:solidFill>
                <a:latin typeface="Arial Narrow"/>
                <a:ea typeface="Arial Narrow"/>
                <a:cs typeface="Arial Narrow"/>
                <a:sym typeface="Arial Narrow"/>
              </a:rPr>
              <a:t>Visas and immigration</a:t>
            </a:r>
            <a:endParaRPr/>
          </a:p>
          <a:p>
            <a:pPr marL="0" marR="0" lvl="0" indent="0" algn="l" rtl="0">
              <a:lnSpc>
                <a:spcPct val="169650"/>
              </a:lnSpc>
              <a:spcBef>
                <a:spcPts val="500"/>
              </a:spcBef>
              <a:spcAft>
                <a:spcPts val="0"/>
              </a:spcAft>
              <a:buNone/>
            </a:pPr>
            <a:r>
              <a:rPr lang="en-US" sz="1250" b="0" i="0" u="none" strike="noStrike" cap="none">
                <a:solidFill>
                  <a:srgbClr val="231F20"/>
                </a:solidFill>
                <a:latin typeface="Arial"/>
                <a:ea typeface="Arial"/>
                <a:cs typeface="Arial"/>
                <a:sym typeface="Arial"/>
              </a:rPr>
              <a:t>Students must comply with the visa and immigration requirements of the country in which they study and are responsible for obtaining the necessary visas and insurance.</a:t>
            </a:r>
            <a:endParaRPr/>
          </a:p>
        </p:txBody>
      </p:sp>
      <p:sp>
        <p:nvSpPr>
          <p:cNvPr id="335" name="Google Shape;335;p14"/>
          <p:cNvSpPr/>
          <p:nvPr/>
        </p:nvSpPr>
        <p:spPr>
          <a:xfrm>
            <a:off x="648000" y="3168000"/>
            <a:ext cx="5304006" cy="187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350" b="1" i="0" u="none" strike="noStrike" cap="none">
                <a:solidFill>
                  <a:srgbClr val="133267"/>
                </a:solidFill>
                <a:latin typeface="Arial Narrow"/>
                <a:ea typeface="Arial Narrow"/>
                <a:cs typeface="Arial Narrow"/>
                <a:sym typeface="Arial Narrow"/>
              </a:rPr>
              <a:t>Appeals</a:t>
            </a:r>
            <a:endParaRPr/>
          </a:p>
          <a:p>
            <a:pPr marL="0" marR="0" lvl="0" indent="0" algn="l" rtl="0">
              <a:lnSpc>
                <a:spcPct val="169650"/>
              </a:lnSpc>
              <a:spcBef>
                <a:spcPts val="500"/>
              </a:spcBef>
              <a:spcAft>
                <a:spcPts val="0"/>
              </a:spcAft>
              <a:buNone/>
            </a:pPr>
            <a:r>
              <a:rPr lang="en-US" sz="1250" b="0" i="0" u="none" strike="noStrike" cap="none">
                <a:solidFill>
                  <a:srgbClr val="231F20"/>
                </a:solidFill>
                <a:latin typeface="Arial"/>
                <a:ea typeface="Arial"/>
                <a:cs typeface="Arial"/>
                <a:sym typeface="Arial"/>
              </a:rPr>
              <a:t>Appeals concerning academic matters or assessments at either university will be handled under that university’s procedures and may not be lodged with the other university.</a:t>
            </a:r>
            <a:endParaRPr/>
          </a:p>
        </p:txBody>
      </p:sp>
      <p:sp>
        <p:nvSpPr>
          <p:cNvPr id="336" name="Google Shape;336;p14"/>
          <p:cNvSpPr/>
          <p:nvPr/>
        </p:nvSpPr>
        <p:spPr>
          <a:xfrm>
            <a:off x="6240006" y="3168000"/>
            <a:ext cx="5304006" cy="1872000"/>
          </a:xfrm>
          <a:prstGeom prst="rect">
            <a:avLst/>
          </a:prstGeom>
          <a:solidFill>
            <a:srgbClr val="FFFFFF"/>
          </a:solidFill>
          <a:ln w="9525" cap="flat" cmpd="sng">
            <a:solidFill>
              <a:srgbClr val="DDDDDD"/>
            </a:solidFill>
            <a:prstDash val="solid"/>
            <a:round/>
            <a:headEnd type="none" w="sm" len="sm"/>
            <a:tailEnd type="none" w="sm" len="sm"/>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350" b="1" i="0" u="none" strike="noStrike" cap="none">
                <a:solidFill>
                  <a:srgbClr val="133267"/>
                </a:solidFill>
                <a:latin typeface="Arial Narrow"/>
                <a:ea typeface="Arial Narrow"/>
                <a:cs typeface="Arial Narrow"/>
                <a:sym typeface="Arial Narrow"/>
              </a:rPr>
              <a:t>Precedence of official regulations</a:t>
            </a:r>
            <a:endParaRPr/>
          </a:p>
          <a:p>
            <a:pPr marL="0" marR="0" lvl="0" indent="0" algn="l" rtl="0">
              <a:lnSpc>
                <a:spcPct val="169650"/>
              </a:lnSpc>
              <a:spcBef>
                <a:spcPts val="500"/>
              </a:spcBef>
              <a:spcAft>
                <a:spcPts val="0"/>
              </a:spcAft>
              <a:buNone/>
            </a:pPr>
            <a:r>
              <a:rPr lang="en-US" sz="1250" b="0" i="0" u="none" strike="noStrike" cap="none">
                <a:solidFill>
                  <a:srgbClr val="231F20"/>
                </a:solidFill>
                <a:latin typeface="Arial"/>
                <a:ea typeface="Arial"/>
                <a:cs typeface="Arial"/>
                <a:sym typeface="Arial"/>
              </a:rPr>
              <a:t>In the event of any discrepancy between these guidelines and the official regulations or final announcements of either university, the official regulations and final announcements will prevail.</a:t>
            </a:r>
            <a:endParaRPr/>
          </a:p>
        </p:txBody>
      </p:sp>
      <p:sp>
        <p:nvSpPr>
          <p:cNvPr id="337" name="Google Shape;337;p14"/>
          <p:cNvSpPr txBox="1"/>
          <p:nvPr/>
        </p:nvSpPr>
        <p:spPr>
          <a:xfrm>
            <a:off x="648000" y="5328000"/>
            <a:ext cx="10896012" cy="230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500" b="1" i="0" u="none" strike="noStrike" cap="none">
                <a:solidFill>
                  <a:srgbClr val="133267"/>
                </a:solidFill>
                <a:latin typeface="Arial Narrow"/>
                <a:ea typeface="Arial Narrow"/>
                <a:cs typeface="Arial Narrow"/>
                <a:sym typeface="Arial Narrow"/>
              </a:rPr>
              <a:t>Personal data</a:t>
            </a:r>
            <a:endParaRPr/>
          </a:p>
        </p:txBody>
      </p:sp>
      <p:sp>
        <p:nvSpPr>
          <p:cNvPr id="338" name="Google Shape;338;p14"/>
          <p:cNvSpPr/>
          <p:nvPr/>
        </p:nvSpPr>
        <p:spPr>
          <a:xfrm>
            <a:off x="648000" y="5580000"/>
            <a:ext cx="10896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9" name="Google Shape;339;p14"/>
          <p:cNvSpPr txBox="1"/>
          <p:nvPr/>
        </p:nvSpPr>
        <p:spPr>
          <a:xfrm>
            <a:off x="648000" y="5742000"/>
            <a:ext cx="10896012" cy="288000"/>
          </a:xfrm>
          <a:prstGeom prst="rect">
            <a:avLst/>
          </a:prstGeom>
          <a:noFill/>
          <a:ln>
            <a:noFill/>
          </a:ln>
        </p:spPr>
        <p:txBody>
          <a:bodyPr spcFirstLastPara="1" wrap="square" lIns="0" tIns="0" rIns="0" bIns="0" anchor="t" anchorCtr="0">
            <a:spAutoFit/>
          </a:bodyPr>
          <a:lstStyle/>
          <a:p>
            <a:pPr marL="127000" marR="0" lvl="0" indent="-127000" algn="l" rtl="0">
              <a:lnSpc>
                <a:spcPct val="163800"/>
              </a:lnSpc>
              <a:spcBef>
                <a:spcPts val="0"/>
              </a:spcBef>
              <a:spcAft>
                <a:spcPts val="0"/>
              </a:spcAft>
              <a:buClr>
                <a:srgbClr val="133267"/>
              </a:buClr>
              <a:buSzPts val="1150"/>
              <a:buFont typeface="Arial"/>
              <a:buChar char="·"/>
            </a:pPr>
            <a:r>
              <a:rPr lang="en-US" sz="1150" b="0" i="0" u="none" strike="noStrike" cap="none">
                <a:solidFill>
                  <a:srgbClr val="231F20"/>
                </a:solidFill>
                <a:latin typeface="Arial"/>
                <a:ea typeface="Arial"/>
                <a:cs typeface="Arial"/>
                <a:sym typeface="Arial"/>
              </a:rPr>
              <a:t>Applicants are required to give separate consent authorising the sharing of their personal data with LSE and its international transfer to the United Kingdom.</a:t>
            </a:r>
            <a:endParaRPr/>
          </a:p>
        </p:txBody>
      </p:sp>
      <p:sp>
        <p:nvSpPr>
          <p:cNvPr id="340" name="Google Shape;340;p14"/>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5"/>
          <p:cNvSpPr txBox="1"/>
          <p:nvPr/>
        </p:nvSpPr>
        <p:spPr>
          <a:xfrm>
            <a:off x="648000" y="360000"/>
            <a:ext cx="10896012" cy="432000"/>
          </a:xfrm>
          <a:prstGeom prst="rect">
            <a:avLst/>
          </a:prstGeom>
          <a:noFill/>
          <a:ln>
            <a:noFill/>
          </a:ln>
        </p:spPr>
        <p:txBody>
          <a:bodyPr spcFirstLastPara="1" wrap="square" lIns="0" tIns="0" rIns="0" bIns="0" anchor="t" anchorCtr="0">
            <a:spAutoFit/>
          </a:bodyPr>
          <a:lstStyle/>
          <a:p>
            <a:pPr marL="0" marR="0" lvl="0" indent="0" algn="l" rtl="0">
              <a:lnSpc>
                <a:spcPct val="11700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Faculty &amp; Student Profile</a:t>
            </a:r>
            <a:endParaRPr/>
          </a:p>
        </p:txBody>
      </p:sp>
      <p:sp>
        <p:nvSpPr>
          <p:cNvPr id="347" name="Google Shape;347;p15"/>
          <p:cNvSpPr txBox="1"/>
          <p:nvPr/>
        </p:nvSpPr>
        <p:spPr>
          <a:xfrm>
            <a:off x="648000" y="1062000"/>
            <a:ext cx="6144012" cy="223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50" b="1" i="0" u="none" strike="noStrike" cap="none">
                <a:solidFill>
                  <a:srgbClr val="133267"/>
                </a:solidFill>
                <a:latin typeface="Arial Narrow"/>
                <a:ea typeface="Arial Narrow"/>
                <a:cs typeface="Arial Narrow"/>
                <a:sym typeface="Arial Narrow"/>
              </a:rPr>
              <a:t>Faculty</a:t>
            </a:r>
            <a:endParaRPr/>
          </a:p>
        </p:txBody>
      </p:sp>
      <p:sp>
        <p:nvSpPr>
          <p:cNvPr id="348" name="Google Shape;348;p15"/>
          <p:cNvSpPr/>
          <p:nvPr/>
        </p:nvSpPr>
        <p:spPr>
          <a:xfrm>
            <a:off x="648000" y="1314000"/>
            <a:ext cx="6144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9" name="Google Shape;349;p15"/>
          <p:cNvSpPr txBox="1"/>
          <p:nvPr/>
        </p:nvSpPr>
        <p:spPr>
          <a:xfrm>
            <a:off x="648000" y="4446000"/>
            <a:ext cx="6144012" cy="223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50" b="1" i="0" u="none" strike="noStrike" cap="none">
                <a:solidFill>
                  <a:srgbClr val="133267"/>
                </a:solidFill>
                <a:latin typeface="Arial Narrow"/>
                <a:ea typeface="Arial Narrow"/>
                <a:cs typeface="Arial Narrow"/>
                <a:sym typeface="Arial Narrow"/>
              </a:rPr>
              <a:t>Programme Directors</a:t>
            </a:r>
            <a:endParaRPr/>
          </a:p>
        </p:txBody>
      </p:sp>
      <p:sp>
        <p:nvSpPr>
          <p:cNvPr id="350" name="Google Shape;350;p15"/>
          <p:cNvSpPr/>
          <p:nvPr/>
        </p:nvSpPr>
        <p:spPr>
          <a:xfrm>
            <a:off x="648000" y="4698000"/>
            <a:ext cx="6144012"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1" name="Google Shape;351;p15"/>
          <p:cNvSpPr/>
          <p:nvPr/>
        </p:nvSpPr>
        <p:spPr>
          <a:xfrm>
            <a:off x="648000" y="4824000"/>
            <a:ext cx="2928006" cy="1458000"/>
          </a:xfrm>
          <a:prstGeom prst="rect">
            <a:avLst/>
          </a:prstGeom>
          <a:solidFill>
            <a:srgbClr val="EAEEF5"/>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050" b="1" i="0" u="none" strike="noStrike" cap="none" spc="80">
                <a:solidFill>
                  <a:srgbClr val="133267"/>
                </a:solidFill>
                <a:latin typeface="Arial Narrow"/>
                <a:ea typeface="Arial Narrow"/>
                <a:cs typeface="Arial Narrow"/>
                <a:sym typeface="Arial Narrow"/>
              </a:rPr>
              <a:t>Yonsei University</a:t>
            </a:r>
            <a:endParaRPr/>
          </a:p>
          <a:p>
            <a:pPr marL="0" marR="0" lvl="0" indent="0" algn="l" rtl="0">
              <a:lnSpc>
                <a:spcPct val="146250"/>
              </a:lnSpc>
              <a:spcBef>
                <a:spcPts val="700"/>
              </a:spcBef>
              <a:spcAft>
                <a:spcPts val="0"/>
              </a:spcAft>
              <a:buNone/>
            </a:pPr>
            <a:r>
              <a:rPr lang="en-US" sz="1500" b="1" i="0" u="none" strike="noStrike" cap="none">
                <a:solidFill>
                  <a:schemeClr val="dk1"/>
                </a:solidFill>
                <a:latin typeface="Arial"/>
                <a:ea typeface="Arial"/>
                <a:cs typeface="Arial"/>
                <a:sym typeface="Arial"/>
              </a:rPr>
              <a:t>Seung Hoon Lee</a:t>
            </a:r>
            <a:endParaRPr sz="1500" b="1" i="0" u="none" strike="noStrike" cap="none">
              <a:solidFill>
                <a:schemeClr val="dk1"/>
              </a:solidFill>
              <a:latin typeface="Arial"/>
              <a:ea typeface="Arial"/>
              <a:cs typeface="Arial"/>
              <a:sym typeface="Arial"/>
            </a:endParaRPr>
          </a:p>
          <a:p>
            <a:pPr marL="0" marR="0" lvl="0" indent="0" algn="l" rtl="0">
              <a:lnSpc>
                <a:spcPct val="157950"/>
              </a:lnSpc>
              <a:spcBef>
                <a:spcPts val="500"/>
              </a:spcBef>
              <a:spcAft>
                <a:spcPts val="0"/>
              </a:spcAft>
              <a:buNone/>
            </a:pPr>
            <a:r>
              <a:rPr lang="en-US" sz="1050" b="0" i="0" u="none" strike="noStrike" cap="none">
                <a:solidFill>
                  <a:schemeClr val="dk1"/>
                </a:solidFill>
                <a:latin typeface="Arial"/>
                <a:ea typeface="Arial"/>
                <a:cs typeface="Arial"/>
                <a:sym typeface="Arial"/>
              </a:rPr>
              <a:t>Associate Professor of Economics</a:t>
            </a:r>
            <a:endParaRPr sz="1050" b="0" i="0" u="none" strike="noStrike" cap="none">
              <a:solidFill>
                <a:schemeClr val="dk1"/>
              </a:solidFill>
              <a:latin typeface="Arial"/>
              <a:ea typeface="Arial"/>
              <a:cs typeface="Arial"/>
              <a:sym typeface="Arial"/>
            </a:endParaRPr>
          </a:p>
        </p:txBody>
      </p:sp>
      <p:sp>
        <p:nvSpPr>
          <p:cNvPr id="352" name="Google Shape;352;p15"/>
          <p:cNvSpPr/>
          <p:nvPr/>
        </p:nvSpPr>
        <p:spPr>
          <a:xfrm>
            <a:off x="648000" y="4824000"/>
            <a:ext cx="2928006"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3" name="Google Shape;353;p15"/>
          <p:cNvSpPr/>
          <p:nvPr/>
        </p:nvSpPr>
        <p:spPr>
          <a:xfrm>
            <a:off x="3864006" y="4824000"/>
            <a:ext cx="2928006" cy="1458000"/>
          </a:xfrm>
          <a:prstGeom prst="rect">
            <a:avLst/>
          </a:prstGeom>
          <a:solidFill>
            <a:srgbClr val="F6EBEE"/>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r>
              <a:rPr lang="en-US" sz="1050" b="1" i="0" u="none" strike="noStrike" cap="none" spc="80">
                <a:solidFill>
                  <a:srgbClr val="A4243B"/>
                </a:solidFill>
                <a:latin typeface="Arial Narrow"/>
                <a:ea typeface="Arial Narrow"/>
                <a:cs typeface="Arial Narrow"/>
                <a:sym typeface="Arial Narrow"/>
              </a:rPr>
              <a:t>London School of Economics and Political Science</a:t>
            </a:r>
            <a:endParaRPr sz="1050" b="1" i="0" u="none" strike="noStrike" cap="none" spc="80">
              <a:solidFill>
                <a:srgbClr val="A4243B"/>
              </a:solidFill>
              <a:latin typeface="Arial Narrow"/>
              <a:ea typeface="Arial Narrow"/>
              <a:cs typeface="Arial Narrow"/>
              <a:sym typeface="Arial Narrow"/>
            </a:endParaRPr>
          </a:p>
          <a:p>
            <a:pPr marL="0" marR="0" lvl="0" indent="0" algn="l" rtl="0">
              <a:lnSpc>
                <a:spcPct val="146250"/>
              </a:lnSpc>
              <a:spcBef>
                <a:spcPts val="700"/>
              </a:spcBef>
              <a:spcAft>
                <a:spcPts val="0"/>
              </a:spcAft>
              <a:buNone/>
            </a:pPr>
            <a:r>
              <a:rPr lang="en-US" sz="1500" b="1" i="0" u="none" strike="noStrike" cap="none">
                <a:solidFill>
                  <a:schemeClr val="dk1"/>
                </a:solidFill>
                <a:latin typeface="Arial"/>
                <a:ea typeface="Arial"/>
                <a:cs typeface="Arial"/>
                <a:sym typeface="Arial"/>
              </a:rPr>
              <a:t>Vassilis Hajivassiliou</a:t>
            </a:r>
            <a:endParaRPr sz="1500" b="1" i="0" u="none" strike="noStrike" cap="none">
              <a:solidFill>
                <a:schemeClr val="dk1"/>
              </a:solidFill>
              <a:latin typeface="Arial"/>
              <a:ea typeface="Arial"/>
              <a:cs typeface="Arial"/>
              <a:sym typeface="Arial"/>
            </a:endParaRPr>
          </a:p>
          <a:p>
            <a:pPr marL="0" marR="0" lvl="0" indent="0" algn="l" rtl="0">
              <a:lnSpc>
                <a:spcPct val="157950"/>
              </a:lnSpc>
              <a:spcBef>
                <a:spcPts val="500"/>
              </a:spcBef>
              <a:spcAft>
                <a:spcPts val="0"/>
              </a:spcAft>
              <a:buNone/>
            </a:pPr>
            <a:r>
              <a:rPr lang="en-US" sz="1050" b="0" i="0" u="none" strike="noStrike" cap="none">
                <a:solidFill>
                  <a:schemeClr val="dk1"/>
                </a:solidFill>
                <a:latin typeface="Arial"/>
                <a:ea typeface="Arial"/>
                <a:cs typeface="Arial"/>
                <a:sym typeface="Arial"/>
              </a:rPr>
              <a:t>Associate Professor of Economics</a:t>
            </a:r>
            <a:endParaRPr sz="1050" b="0" i="0" u="none" strike="noStrike" cap="none">
              <a:solidFill>
                <a:schemeClr val="dk1"/>
              </a:solidFill>
              <a:latin typeface="Arial"/>
              <a:ea typeface="Arial"/>
              <a:cs typeface="Arial"/>
              <a:sym typeface="Arial"/>
            </a:endParaRPr>
          </a:p>
        </p:txBody>
      </p:sp>
      <p:sp>
        <p:nvSpPr>
          <p:cNvPr id="354" name="Google Shape;354;p15"/>
          <p:cNvSpPr/>
          <p:nvPr/>
        </p:nvSpPr>
        <p:spPr>
          <a:xfrm>
            <a:off x="3864006" y="4824000"/>
            <a:ext cx="2928006"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5" name="Google Shape;355;p15"/>
          <p:cNvSpPr txBox="1"/>
          <p:nvPr/>
        </p:nvSpPr>
        <p:spPr>
          <a:xfrm>
            <a:off x="7080012" y="1062000"/>
            <a:ext cx="4464000" cy="223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50" b="1" i="0" u="none" strike="noStrike" cap="none">
                <a:solidFill>
                  <a:srgbClr val="133267"/>
                </a:solidFill>
                <a:latin typeface="Arial Narrow"/>
                <a:ea typeface="Arial Narrow"/>
                <a:cs typeface="Arial Narrow"/>
                <a:sym typeface="Arial Narrow"/>
              </a:rPr>
              <a:t>Student life</a:t>
            </a:r>
            <a:endParaRPr/>
          </a:p>
        </p:txBody>
      </p:sp>
      <p:sp>
        <p:nvSpPr>
          <p:cNvPr id="356" name="Google Shape;356;p15"/>
          <p:cNvSpPr/>
          <p:nvPr/>
        </p:nvSpPr>
        <p:spPr>
          <a:xfrm>
            <a:off x="7080012" y="1314000"/>
            <a:ext cx="4464000" cy="180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57" name="Google Shape;357;p15" descr="akaraka_696x322_5030.jpg"/>
          <p:cNvPicPr preferRelativeResize="0"/>
          <p:nvPr/>
        </p:nvPicPr>
        <p:blipFill rotWithShape="1">
          <a:blip r:embed="rId3">
            <a:alphaModFix/>
          </a:blip>
          <a:srcRect/>
          <a:stretch/>
        </p:blipFill>
        <p:spPr>
          <a:xfrm>
            <a:off x="7080012" y="1476000"/>
            <a:ext cx="4464000" cy="2065357"/>
          </a:xfrm>
          <a:prstGeom prst="rect">
            <a:avLst/>
          </a:prstGeom>
          <a:noFill/>
          <a:ln>
            <a:noFill/>
          </a:ln>
        </p:spPr>
      </p:pic>
      <p:sp>
        <p:nvSpPr>
          <p:cNvPr id="358" name="Google Shape;358;p15"/>
          <p:cNvSpPr txBox="1"/>
          <p:nvPr/>
        </p:nvSpPr>
        <p:spPr>
          <a:xfrm>
            <a:off x="7080012" y="3591757"/>
            <a:ext cx="4464000" cy="180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900" b="0" i="0" u="none" strike="noStrike" cap="none">
                <a:solidFill>
                  <a:srgbClr val="8C8A8B"/>
                </a:solidFill>
                <a:latin typeface="Arial"/>
                <a:ea typeface="Arial"/>
                <a:cs typeface="Arial"/>
                <a:sym typeface="Arial"/>
              </a:rPr>
              <a:t>Akaraka, the Yonsei University festival, Sinchon campus</a:t>
            </a:r>
            <a:endParaRPr/>
          </a:p>
        </p:txBody>
      </p:sp>
      <p:sp>
        <p:nvSpPr>
          <p:cNvPr id="359" name="Google Shape;359;p15"/>
          <p:cNvSpPr txBox="1"/>
          <p:nvPr/>
        </p:nvSpPr>
        <p:spPr>
          <a:xfrm>
            <a:off x="0" y="6498000"/>
            <a:ext cx="12192012" cy="140400"/>
          </a:xfrm>
          <a:prstGeom prst="rect">
            <a:avLst/>
          </a:prstGeom>
          <a:noFill/>
          <a:ln>
            <a:noFill/>
          </a:ln>
        </p:spPr>
        <p:txBody>
          <a:bodyPr spcFirstLastPara="1" wrap="square" lIns="0" tIns="0" rIns="0" bIns="0" anchor="t" anchorCtr="0">
            <a:spAutoFit/>
          </a:bodyPr>
          <a:lstStyle/>
          <a:p>
            <a:pPr marL="0" marR="0" lvl="0" indent="0" algn="ctr" rtl="0">
              <a:lnSpc>
                <a:spcPct val="117000"/>
              </a:lnSpc>
              <a:spcBef>
                <a:spcPts val="0"/>
              </a:spcBef>
              <a:spcAft>
                <a:spcPts val="0"/>
              </a:spcAft>
              <a:buNone/>
            </a:pPr>
            <a:r>
              <a:rPr lang="en-US" sz="800" b="0" i="0" u="none" strike="noStrike" cap="none">
                <a:solidFill>
                  <a:srgbClr val="8C8A8B"/>
                </a:solidFill>
                <a:latin typeface="Arial"/>
                <a:ea typeface="Arial"/>
                <a:cs typeface="Arial"/>
                <a:sym typeface="Arial"/>
              </a:rPr>
              <a:t>14</a:t>
            </a:r>
            <a:endParaRPr/>
          </a:p>
        </p:txBody>
      </p:sp>
      <p:pic>
        <p:nvPicPr>
          <p:cNvPr id="360" name="Google Shape;360;p15"/>
          <p:cNvPicPr preferRelativeResize="0"/>
          <p:nvPr/>
        </p:nvPicPr>
        <p:blipFill rotWithShape="1">
          <a:blip r:embed="rId4">
            <a:alphaModFix/>
          </a:blip>
          <a:srcRect/>
          <a:stretch/>
        </p:blipFill>
        <p:spPr>
          <a:xfrm>
            <a:off x="7080012" y="3942000"/>
            <a:ext cx="4464000" cy="2065357"/>
          </a:xfrm>
          <a:prstGeom prst="rect">
            <a:avLst/>
          </a:prstGeom>
          <a:noFill/>
          <a:ln>
            <a:noFill/>
          </a:ln>
        </p:spPr>
      </p:pic>
      <p:sp>
        <p:nvSpPr>
          <p:cNvPr id="361" name="Google Shape;361;p15"/>
          <p:cNvSpPr txBox="1"/>
          <p:nvPr/>
        </p:nvSpPr>
        <p:spPr>
          <a:xfrm>
            <a:off x="7080012" y="6057757"/>
            <a:ext cx="4464000" cy="180000"/>
          </a:xfrm>
          <a:prstGeom prst="rect">
            <a:avLst/>
          </a:prstGeom>
          <a:noFill/>
          <a:ln>
            <a:noFill/>
          </a:ln>
        </p:spPr>
        <p:txBody>
          <a:bodyPr spcFirstLastPara="1" wrap="square" lIns="0" tIns="0" rIns="0" bIns="0" anchor="t" anchorCtr="0">
            <a:spAutoFit/>
          </a:bodyPr>
          <a:lstStyle/>
          <a:p>
            <a:pPr marL="0" marR="0" lvl="0" indent="0" algn="l" rtl="0">
              <a:lnSpc>
                <a:spcPct val="152100"/>
              </a:lnSpc>
              <a:spcBef>
                <a:spcPts val="0"/>
              </a:spcBef>
              <a:spcAft>
                <a:spcPts val="0"/>
              </a:spcAft>
              <a:buNone/>
            </a:pPr>
            <a:r>
              <a:rPr lang="en-US" sz="900" b="0" i="0" u="none" strike="noStrike" cap="none">
                <a:solidFill>
                  <a:srgbClr val="8C8A8B"/>
                </a:solidFill>
                <a:latin typeface="Arial"/>
                <a:ea typeface="Arial"/>
                <a:cs typeface="Arial"/>
                <a:sym typeface="Arial"/>
              </a:rPr>
              <a:t>Graduation ceremony, LSE campus</a:t>
            </a:r>
            <a:endParaRPr sz="900" b="0" i="0" u="none" strike="noStrike" cap="none">
              <a:solidFill>
                <a:srgbClr val="8C8A8B"/>
              </a:solidFill>
              <a:latin typeface="Arial"/>
              <a:ea typeface="Arial"/>
              <a:cs typeface="Arial"/>
              <a:sym typeface="Arial"/>
            </a:endParaRPr>
          </a:p>
        </p:txBody>
      </p:sp>
      <p:sp>
        <p:nvSpPr>
          <p:cNvPr id="362" name="Google Shape;362;p15"/>
          <p:cNvSpPr/>
          <p:nvPr/>
        </p:nvSpPr>
        <p:spPr>
          <a:xfrm>
            <a:off x="648000" y="1476000"/>
            <a:ext cx="2928006" cy="2808000"/>
          </a:xfrm>
          <a:prstGeom prst="rect">
            <a:avLst/>
          </a:prstGeom>
          <a:solidFill>
            <a:srgbClr val="EAEEF5"/>
          </a:solidFill>
          <a:ln>
            <a:noFill/>
          </a:ln>
        </p:spPr>
        <p:txBody>
          <a:bodyPr spcFirstLastPara="1" wrap="square" lIns="203200" tIns="177800" rIns="177800" bIns="177800" anchor="t" anchorCtr="0">
            <a:noAutofit/>
          </a:bodyPr>
          <a:lstStyle/>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l"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133267"/>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r>
              <a:rPr lang="en-US" sz="1050" b="1" i="0" u="none" strike="noStrike" cap="none" spc="80">
                <a:solidFill>
                  <a:srgbClr val="133267"/>
                </a:solidFill>
                <a:latin typeface="Arial Narrow"/>
                <a:ea typeface="Arial Narrow"/>
                <a:cs typeface="Arial Narrow"/>
                <a:sym typeface="Arial Narrow"/>
              </a:rPr>
              <a:t>Scan this QR code for:</a:t>
            </a:r>
            <a:endParaRPr/>
          </a:p>
          <a:p>
            <a:pPr marL="0" marR="0" lvl="0" indent="0" algn="ctr" rtl="0">
              <a:lnSpc>
                <a:spcPct val="128700"/>
              </a:lnSpc>
              <a:spcBef>
                <a:spcPts val="0"/>
              </a:spcBef>
              <a:spcAft>
                <a:spcPts val="0"/>
              </a:spcAft>
              <a:buNone/>
            </a:pPr>
            <a:r>
              <a:rPr lang="en-US" sz="1050" b="1" i="0" u="none" strike="noStrike" cap="none" spc="80">
                <a:solidFill>
                  <a:srgbClr val="133267"/>
                </a:solidFill>
                <a:latin typeface="Arial Narrow"/>
                <a:ea typeface="Arial Narrow"/>
                <a:cs typeface="Arial Narrow"/>
                <a:sym typeface="Arial Narrow"/>
              </a:rPr>
              <a:t>Faculty of School of Economics, Yonsei University</a:t>
            </a:r>
            <a:endParaRPr/>
          </a:p>
          <a:p>
            <a:pPr marL="0" marR="0" lvl="0" indent="0" algn="ctr" rtl="0">
              <a:lnSpc>
                <a:spcPct val="128700"/>
              </a:lnSpc>
              <a:spcBef>
                <a:spcPts val="0"/>
              </a:spcBef>
              <a:spcAft>
                <a:spcPts val="0"/>
              </a:spcAft>
              <a:buNone/>
            </a:pPr>
            <a:r>
              <a:rPr lang="en-US" sz="800" b="1" i="0" u="sng" strike="noStrike" cap="none" spc="80">
                <a:solidFill>
                  <a:srgbClr val="133267"/>
                </a:solidFill>
                <a:latin typeface="Arial Narrow"/>
                <a:ea typeface="Arial Narrow"/>
                <a:cs typeface="Arial Narrow"/>
                <a:sym typeface="Arial Narrow"/>
                <a:hlinkClick r:id="rId5">
                  <a:extLst>
                    <a:ext uri="{A12FA001-AC4F-418D-AE19-62706E023703}">
                      <ahyp:hlinkClr xmlns:ahyp="http://schemas.microsoft.com/office/drawing/2018/hyperlinkcolor" val="tx"/>
                    </a:ext>
                  </a:extLst>
                </a:hlinkClick>
              </a:rPr>
              <a:t>https://devcms.yonsei.ac.kr/economics_en/faculty/faculty.do</a:t>
            </a:r>
            <a:r>
              <a:rPr lang="en-US" sz="800" b="1" i="0" u="none" strike="noStrike" cap="none" spc="80">
                <a:solidFill>
                  <a:srgbClr val="133267"/>
                </a:solidFill>
                <a:latin typeface="Arial Narrow"/>
                <a:ea typeface="Arial Narrow"/>
                <a:cs typeface="Arial Narrow"/>
                <a:sym typeface="Arial Narrow"/>
              </a:rPr>
              <a:t> </a:t>
            </a:r>
            <a:endParaRPr/>
          </a:p>
        </p:txBody>
      </p:sp>
      <p:sp>
        <p:nvSpPr>
          <p:cNvPr id="363" name="Google Shape;363;p15"/>
          <p:cNvSpPr/>
          <p:nvPr/>
        </p:nvSpPr>
        <p:spPr>
          <a:xfrm>
            <a:off x="648000" y="1476000"/>
            <a:ext cx="2928006"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64" name="Google Shape;364;p15"/>
          <p:cNvSpPr/>
          <p:nvPr/>
        </p:nvSpPr>
        <p:spPr>
          <a:xfrm>
            <a:off x="3864006" y="1476000"/>
            <a:ext cx="2928006" cy="2808000"/>
          </a:xfrm>
          <a:prstGeom prst="rect">
            <a:avLst/>
          </a:prstGeom>
          <a:solidFill>
            <a:srgbClr val="F6EBEE"/>
          </a:solidFill>
          <a:ln>
            <a:noFill/>
          </a:ln>
        </p:spPr>
        <p:txBody>
          <a:bodyPr spcFirstLastPara="1" wrap="square" lIns="203200" tIns="177800" rIns="177800" bIns="177800" anchor="t" anchorCtr="0">
            <a:noAutofit/>
          </a:bodyPr>
          <a:lstStyle/>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endParaRPr sz="900" b="1" i="0" u="none" strike="noStrike" cap="none" spc="80">
              <a:solidFill>
                <a:srgbClr val="A4243B"/>
              </a:solidFill>
              <a:latin typeface="Arial Narrow"/>
              <a:ea typeface="Arial Narrow"/>
              <a:cs typeface="Arial Narrow"/>
              <a:sym typeface="Arial Narrow"/>
            </a:endParaRPr>
          </a:p>
          <a:p>
            <a:pPr marL="0" marR="0" lvl="0" indent="0" algn="ctr" rtl="0">
              <a:lnSpc>
                <a:spcPct val="128700"/>
              </a:lnSpc>
              <a:spcBef>
                <a:spcPts val="0"/>
              </a:spcBef>
              <a:spcAft>
                <a:spcPts val="0"/>
              </a:spcAft>
              <a:buNone/>
            </a:pPr>
            <a:r>
              <a:rPr lang="en-US" sz="1050" b="1" i="0" u="none" strike="noStrike" cap="none" spc="80">
                <a:solidFill>
                  <a:srgbClr val="A4243B"/>
                </a:solidFill>
                <a:latin typeface="Arial Narrow"/>
                <a:ea typeface="Arial Narrow"/>
                <a:cs typeface="Arial Narrow"/>
                <a:sym typeface="Arial Narrow"/>
              </a:rPr>
              <a:t>Scan this QR code for:</a:t>
            </a:r>
            <a:endParaRPr/>
          </a:p>
          <a:p>
            <a:pPr marL="0" marR="0" lvl="0" indent="0" algn="ctr" rtl="0">
              <a:lnSpc>
                <a:spcPct val="128700"/>
              </a:lnSpc>
              <a:spcBef>
                <a:spcPts val="0"/>
              </a:spcBef>
              <a:spcAft>
                <a:spcPts val="0"/>
              </a:spcAft>
              <a:buNone/>
            </a:pPr>
            <a:r>
              <a:rPr lang="en-US" sz="1050" b="1" i="0" u="none" strike="noStrike" cap="none" spc="80">
                <a:solidFill>
                  <a:srgbClr val="A4243B"/>
                </a:solidFill>
                <a:latin typeface="Arial Narrow"/>
                <a:ea typeface="Arial Narrow"/>
                <a:cs typeface="Arial Narrow"/>
                <a:sym typeface="Arial Narrow"/>
              </a:rPr>
              <a:t>Faculty of London School of Economics</a:t>
            </a:r>
            <a:br>
              <a:rPr lang="en-US" sz="900" b="1" i="0" u="none" strike="noStrike" cap="none" spc="80">
                <a:solidFill>
                  <a:srgbClr val="A4243B"/>
                </a:solidFill>
                <a:latin typeface="Arial Narrow"/>
                <a:ea typeface="Arial Narrow"/>
                <a:cs typeface="Arial Narrow"/>
                <a:sym typeface="Arial Narrow"/>
              </a:rPr>
            </a:br>
            <a:r>
              <a:rPr lang="en-US" sz="900" b="0" i="0" u="sng" strike="noStrike" cap="none">
                <a:solidFill>
                  <a:srgbClr val="0563C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https://www.lse.ac.uk/economics/people/faculty</a:t>
            </a:r>
            <a:endParaRPr sz="1800" b="0" i="0" u="none" strike="noStrike" cap="none">
              <a:solidFill>
                <a:schemeClr val="lt1"/>
              </a:solidFill>
              <a:latin typeface="Calibri"/>
              <a:ea typeface="Calibri"/>
              <a:cs typeface="Calibri"/>
              <a:sym typeface="Calibri"/>
            </a:endParaRPr>
          </a:p>
        </p:txBody>
      </p:sp>
      <p:sp>
        <p:nvSpPr>
          <p:cNvPr id="365" name="Google Shape;365;p15"/>
          <p:cNvSpPr/>
          <p:nvPr/>
        </p:nvSpPr>
        <p:spPr>
          <a:xfrm>
            <a:off x="3864006" y="1476000"/>
            <a:ext cx="2928006"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66" name="Google Shape;366;p15"/>
          <p:cNvPicPr preferRelativeResize="0"/>
          <p:nvPr/>
        </p:nvPicPr>
        <p:blipFill rotWithShape="1">
          <a:blip r:embed="rId7">
            <a:alphaModFix/>
          </a:blip>
          <a:srcRect/>
          <a:stretch/>
        </p:blipFill>
        <p:spPr>
          <a:xfrm>
            <a:off x="1316403" y="1634400"/>
            <a:ext cx="1590676" cy="1604243"/>
          </a:xfrm>
          <a:prstGeom prst="rect">
            <a:avLst/>
          </a:prstGeom>
          <a:noFill/>
          <a:ln>
            <a:noFill/>
          </a:ln>
        </p:spPr>
      </p:pic>
      <p:pic>
        <p:nvPicPr>
          <p:cNvPr id="367" name="Google Shape;367;p15"/>
          <p:cNvPicPr preferRelativeResize="0"/>
          <p:nvPr/>
        </p:nvPicPr>
        <p:blipFill rotWithShape="1">
          <a:blip r:embed="rId8">
            <a:alphaModFix/>
          </a:blip>
          <a:srcRect/>
          <a:stretch/>
        </p:blipFill>
        <p:spPr>
          <a:xfrm>
            <a:off x="4525209" y="1609200"/>
            <a:ext cx="1604913" cy="16011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6"/>
          <p:cNvSpPr/>
          <p:nvPr/>
        </p:nvSpPr>
        <p:spPr>
          <a:xfrm>
            <a:off x="648000" y="1400400"/>
            <a:ext cx="4968000" cy="1224000"/>
          </a:xfrm>
          <a:prstGeom prst="rect">
            <a:avLst/>
          </a:prstGeom>
          <a:solidFill>
            <a:srgbClr val="EAEEF5"/>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4" name="Google Shape;374;p16"/>
          <p:cNvSpPr/>
          <p:nvPr/>
        </p:nvSpPr>
        <p:spPr>
          <a:xfrm>
            <a:off x="648000" y="2912400"/>
            <a:ext cx="4968000" cy="1224000"/>
          </a:xfrm>
          <a:prstGeom prst="rect">
            <a:avLst/>
          </a:prstGeom>
          <a:solidFill>
            <a:srgbClr val="F6EBEE"/>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5" name="Google Shape;375;p16"/>
          <p:cNvSpPr txBox="1"/>
          <p:nvPr/>
        </p:nvSpPr>
        <p:spPr>
          <a:xfrm>
            <a:off x="648000" y="360000"/>
            <a:ext cx="4968000" cy="460800"/>
          </a:xfrm>
          <a:prstGeom prst="rect">
            <a:avLst/>
          </a:prstGeom>
          <a:noFill/>
          <a:ln>
            <a:noFill/>
          </a:ln>
        </p:spPr>
        <p:txBody>
          <a:bodyPr spcFirstLastPara="1" wrap="square" lIns="0" tIns="0" rIns="0" bIns="0" anchor="t" anchorCtr="0">
            <a:spAutoFit/>
          </a:bodyPr>
          <a:lstStyle/>
          <a:p>
            <a:pPr marL="0" marR="0" lvl="0" indent="0" algn="l" rtl="0">
              <a:lnSpc>
                <a:spcPct val="122850"/>
              </a:lnSpc>
              <a:spcBef>
                <a:spcPts val="0"/>
              </a:spcBef>
              <a:spcAft>
                <a:spcPts val="0"/>
              </a:spcAft>
              <a:buNone/>
            </a:pPr>
            <a:r>
              <a:rPr lang="en-US" sz="2700" b="1" i="0" u="none" strike="noStrike" cap="none">
                <a:solidFill>
                  <a:srgbClr val="133267"/>
                </a:solidFill>
                <a:latin typeface="Arial Narrow"/>
                <a:ea typeface="Arial Narrow"/>
                <a:cs typeface="Arial Narrow"/>
                <a:sym typeface="Arial Narrow"/>
              </a:rPr>
              <a:t>Contact</a:t>
            </a:r>
            <a:endParaRPr/>
          </a:p>
        </p:txBody>
      </p:sp>
      <p:sp>
        <p:nvSpPr>
          <p:cNvPr id="376" name="Google Shape;376;p16"/>
          <p:cNvSpPr/>
          <p:nvPr/>
        </p:nvSpPr>
        <p:spPr>
          <a:xfrm>
            <a:off x="648000" y="1368000"/>
            <a:ext cx="4968000"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7" name="Google Shape;377;p16"/>
          <p:cNvSpPr txBox="1"/>
          <p:nvPr/>
        </p:nvSpPr>
        <p:spPr>
          <a:xfrm>
            <a:off x="810000" y="1566000"/>
            <a:ext cx="4644000" cy="900000"/>
          </a:xfrm>
          <a:prstGeom prst="rect">
            <a:avLst/>
          </a:prstGeom>
          <a:noFill/>
          <a:ln>
            <a:noFill/>
          </a:ln>
        </p:spPr>
        <p:txBody>
          <a:bodyPr spcFirstLastPara="1" wrap="square" lIns="0" tIns="0" rIns="0" bIns="0" anchor="t" anchorCtr="0">
            <a:spAutoFit/>
          </a:bodyPr>
          <a:lstStyle/>
          <a:p>
            <a:pPr marL="0" marR="0" lvl="0" indent="0" algn="l" rtl="0">
              <a:lnSpc>
                <a:spcPct val="134550"/>
              </a:lnSpc>
              <a:spcBef>
                <a:spcPts val="0"/>
              </a:spcBef>
              <a:spcAft>
                <a:spcPts val="0"/>
              </a:spcAft>
              <a:buNone/>
            </a:pPr>
            <a:r>
              <a:rPr lang="en-US" sz="1400" b="1" i="0" u="none" strike="noStrike" cap="none">
                <a:solidFill>
                  <a:srgbClr val="133267"/>
                </a:solidFill>
                <a:latin typeface="Arial Narrow"/>
                <a:ea typeface="Arial Narrow"/>
                <a:cs typeface="Arial Narrow"/>
                <a:sym typeface="Arial Narrow"/>
              </a:rPr>
              <a:t>Yonsei University</a:t>
            </a:r>
            <a:endParaRPr/>
          </a:p>
          <a:p>
            <a:pPr marL="0" marR="0" lvl="0" indent="0" algn="l" rtl="0">
              <a:lnSpc>
                <a:spcPct val="152100"/>
              </a:lnSpc>
              <a:spcBef>
                <a:spcPts val="300"/>
              </a:spcBef>
              <a:spcAft>
                <a:spcPts val="0"/>
              </a:spcAft>
              <a:buNone/>
            </a:pPr>
            <a:r>
              <a:rPr lang="en-US" sz="1200" b="1" i="0" u="none" strike="noStrike" cap="none">
                <a:solidFill>
                  <a:srgbClr val="4F4C4D"/>
                </a:solidFill>
                <a:latin typeface="Arial"/>
                <a:ea typeface="Arial"/>
                <a:cs typeface="Arial"/>
                <a:sym typeface="Arial"/>
              </a:rPr>
              <a:t>Graduate School of Economics</a:t>
            </a:r>
            <a:endParaRPr sz="1200" b="1" i="0" u="none" strike="noStrike" cap="none">
              <a:solidFill>
                <a:srgbClr val="4F4C4D"/>
              </a:solidFill>
              <a:latin typeface="Arial"/>
              <a:ea typeface="Arial"/>
              <a:cs typeface="Arial"/>
              <a:sym typeface="Arial"/>
            </a:endParaRPr>
          </a:p>
          <a:p>
            <a:pPr marL="0" marR="0" lvl="0" indent="0" algn="l" rtl="0">
              <a:lnSpc>
                <a:spcPct val="152100"/>
              </a:lnSpc>
              <a:spcBef>
                <a:spcPts val="300"/>
              </a:spcBef>
              <a:spcAft>
                <a:spcPts val="0"/>
              </a:spcAft>
              <a:buNone/>
            </a:pPr>
            <a:r>
              <a:rPr lang="en-US" sz="1200" b="1" i="0" u="sng" strike="noStrike" cap="none">
                <a:solidFill>
                  <a:srgbClr val="4F4C4D"/>
                </a:solidFill>
                <a:latin typeface="Arial"/>
                <a:ea typeface="Arial"/>
                <a:cs typeface="Arial"/>
                <a:sym typeface="Arial"/>
                <a:hlinkClick r:id="rId3">
                  <a:extLst>
                    <a:ext uri="{A12FA001-AC4F-418D-AE19-62706E023703}">
                      <ahyp:hlinkClr xmlns:ahyp="http://schemas.microsoft.com/office/drawing/2018/hyperlinkcolor" val="tx"/>
                    </a:ext>
                  </a:extLst>
                </a:hlinkClick>
              </a:rPr>
              <a:t>economy@yonsei.ac.kr</a:t>
            </a:r>
            <a:r>
              <a:rPr lang="en-US" sz="1200" b="1" i="0" u="none" strike="noStrike" cap="none">
                <a:solidFill>
                  <a:srgbClr val="4F4C4D"/>
                </a:solidFill>
                <a:latin typeface="Arial"/>
                <a:ea typeface="Arial"/>
                <a:cs typeface="Arial"/>
                <a:sym typeface="Arial"/>
              </a:rPr>
              <a:t> </a:t>
            </a:r>
            <a:endParaRPr sz="1200" b="1" i="0" u="none" strike="noStrike" cap="none">
              <a:solidFill>
                <a:srgbClr val="4F4C4D"/>
              </a:solidFill>
              <a:latin typeface="Arial"/>
              <a:ea typeface="Arial"/>
              <a:cs typeface="Arial"/>
              <a:sym typeface="Arial"/>
            </a:endParaRPr>
          </a:p>
        </p:txBody>
      </p:sp>
      <p:sp>
        <p:nvSpPr>
          <p:cNvPr id="378" name="Google Shape;378;p16"/>
          <p:cNvSpPr/>
          <p:nvPr/>
        </p:nvSpPr>
        <p:spPr>
          <a:xfrm>
            <a:off x="648000" y="2880000"/>
            <a:ext cx="4968000"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79" name="Google Shape;379;p16"/>
          <p:cNvSpPr txBox="1"/>
          <p:nvPr/>
        </p:nvSpPr>
        <p:spPr>
          <a:xfrm>
            <a:off x="810000" y="3078000"/>
            <a:ext cx="4644000" cy="900000"/>
          </a:xfrm>
          <a:prstGeom prst="rect">
            <a:avLst/>
          </a:prstGeom>
          <a:noFill/>
          <a:ln>
            <a:noFill/>
          </a:ln>
        </p:spPr>
        <p:txBody>
          <a:bodyPr spcFirstLastPara="1" wrap="square" lIns="0" tIns="0" rIns="0" bIns="0" anchor="t" anchorCtr="0">
            <a:spAutoFit/>
          </a:bodyPr>
          <a:lstStyle/>
          <a:p>
            <a:pPr marL="0" marR="0" lvl="0" indent="0" algn="l" rtl="0">
              <a:lnSpc>
                <a:spcPct val="134550"/>
              </a:lnSpc>
              <a:spcBef>
                <a:spcPts val="0"/>
              </a:spcBef>
              <a:spcAft>
                <a:spcPts val="0"/>
              </a:spcAft>
              <a:buNone/>
            </a:pPr>
            <a:r>
              <a:rPr lang="en-US" sz="1400" b="1" i="0" u="none" strike="noStrike" cap="none">
                <a:solidFill>
                  <a:srgbClr val="A4243B"/>
                </a:solidFill>
                <a:latin typeface="Arial Narrow"/>
                <a:ea typeface="Arial Narrow"/>
                <a:cs typeface="Arial Narrow"/>
                <a:sym typeface="Arial Narrow"/>
              </a:rPr>
              <a:t>London School of Economics and Political Science</a:t>
            </a:r>
            <a:endParaRPr sz="1400" b="1" i="0" u="none" strike="noStrike" cap="none">
              <a:solidFill>
                <a:srgbClr val="A4243B"/>
              </a:solidFill>
              <a:latin typeface="Arial Narrow"/>
              <a:ea typeface="Arial Narrow"/>
              <a:cs typeface="Arial Narrow"/>
              <a:sym typeface="Arial Narrow"/>
            </a:endParaRPr>
          </a:p>
          <a:p>
            <a:pPr marL="0" marR="0" lvl="0" indent="0" algn="l" rtl="0">
              <a:lnSpc>
                <a:spcPct val="152100"/>
              </a:lnSpc>
              <a:spcBef>
                <a:spcPts val="300"/>
              </a:spcBef>
              <a:spcAft>
                <a:spcPts val="0"/>
              </a:spcAft>
              <a:buNone/>
            </a:pPr>
            <a:r>
              <a:rPr lang="en-US" sz="1200" b="1" i="0" u="none" strike="noStrike" cap="none">
                <a:solidFill>
                  <a:srgbClr val="4F4C4D"/>
                </a:solidFill>
                <a:latin typeface="Arial"/>
                <a:ea typeface="Arial"/>
                <a:cs typeface="Arial"/>
                <a:sym typeface="Arial"/>
              </a:rPr>
              <a:t>Department of Economics</a:t>
            </a:r>
            <a:endParaRPr sz="1200" b="1" i="0" u="none" strike="noStrike" cap="none">
              <a:solidFill>
                <a:srgbClr val="4F4C4D"/>
              </a:solidFill>
              <a:latin typeface="Arial"/>
              <a:ea typeface="Arial"/>
              <a:cs typeface="Arial"/>
              <a:sym typeface="Arial"/>
            </a:endParaRPr>
          </a:p>
          <a:p>
            <a:pPr marL="0" marR="0" lvl="0" indent="0" algn="l" rtl="0">
              <a:lnSpc>
                <a:spcPct val="152100"/>
              </a:lnSpc>
              <a:spcBef>
                <a:spcPts val="300"/>
              </a:spcBef>
              <a:spcAft>
                <a:spcPts val="0"/>
              </a:spcAft>
              <a:buNone/>
            </a:pPr>
            <a:r>
              <a:rPr lang="en-US" sz="1200" b="1" i="0" u="sng" strike="noStrike" cap="none">
                <a:solidFill>
                  <a:srgbClr val="4F4C4D"/>
                </a:solidFill>
                <a:latin typeface="Arial"/>
                <a:ea typeface="Arial"/>
                <a:cs typeface="Arial"/>
                <a:sym typeface="Arial"/>
                <a:hlinkClick r:id="rId4">
                  <a:extLst>
                    <a:ext uri="{A12FA001-AC4F-418D-AE19-62706E023703}">
                      <ahyp:hlinkClr xmlns:ahyp="http://schemas.microsoft.com/office/drawing/2018/hyperlinkcolor" val="tx"/>
                    </a:ext>
                  </a:extLst>
                </a:hlinkClick>
              </a:rPr>
              <a:t>Econ.Yonsei.doubledegree@lse.ac.uk</a:t>
            </a:r>
            <a:r>
              <a:rPr lang="en-US" sz="1200" b="1" i="0" u="none" strike="noStrike" cap="none">
                <a:solidFill>
                  <a:srgbClr val="4F4C4D"/>
                </a:solidFill>
                <a:latin typeface="Arial"/>
                <a:ea typeface="Arial"/>
                <a:cs typeface="Arial"/>
                <a:sym typeface="Arial"/>
              </a:rPr>
              <a:t> </a:t>
            </a:r>
            <a:endParaRPr sz="1200" b="1" i="0" u="none" strike="noStrike" cap="none">
              <a:solidFill>
                <a:srgbClr val="4F4C4D"/>
              </a:solidFill>
              <a:latin typeface="Arial"/>
              <a:ea typeface="Arial"/>
              <a:cs typeface="Arial"/>
              <a:sym typeface="Arial"/>
            </a:endParaRPr>
          </a:p>
        </p:txBody>
      </p:sp>
      <p:sp>
        <p:nvSpPr>
          <p:cNvPr id="380" name="Google Shape;380;p16"/>
          <p:cNvSpPr/>
          <p:nvPr/>
        </p:nvSpPr>
        <p:spPr>
          <a:xfrm>
            <a:off x="606960" y="4320000"/>
            <a:ext cx="5009040" cy="1728000"/>
          </a:xfrm>
          <a:prstGeom prst="rect">
            <a:avLst/>
          </a:prstGeom>
          <a:noFill/>
          <a:ln>
            <a:noFill/>
          </a:ln>
        </p:spPr>
        <p:txBody>
          <a:bodyPr spcFirstLastPara="1" wrap="square" lIns="203200" tIns="152400" rIns="203200" bIns="152400" anchor="t" anchorCtr="0">
            <a:noAutofit/>
          </a:bodyPr>
          <a:lstStyle/>
          <a:p>
            <a:pPr marL="0" marR="0" lvl="0" indent="0" algn="l" rtl="0">
              <a:lnSpc>
                <a:spcPct val="140400"/>
              </a:lnSpc>
              <a:spcBef>
                <a:spcPts val="0"/>
              </a:spcBef>
              <a:spcAft>
                <a:spcPts val="0"/>
              </a:spcAft>
              <a:buNone/>
            </a:pPr>
            <a:r>
              <a:rPr lang="en-US" sz="1150" b="1" i="0" u="none" strike="noStrike" cap="none" spc="80">
                <a:solidFill>
                  <a:srgbClr val="133267"/>
                </a:solidFill>
                <a:latin typeface="Arial"/>
                <a:ea typeface="Arial"/>
                <a:cs typeface="Arial"/>
                <a:sym typeface="Arial"/>
              </a:rPr>
              <a:t>Disclaimer</a:t>
            </a:r>
            <a:endParaRPr/>
          </a:p>
          <a:p>
            <a:pPr marL="0" marR="0" lvl="0" indent="0" algn="l" rtl="0">
              <a:lnSpc>
                <a:spcPct val="169650"/>
              </a:lnSpc>
              <a:spcBef>
                <a:spcPts val="500"/>
              </a:spcBef>
              <a:spcAft>
                <a:spcPts val="0"/>
              </a:spcAft>
              <a:buNone/>
            </a:pPr>
            <a:r>
              <a:rPr lang="en-US" sz="1050" b="0" i="0" u="none" strike="noStrike" cap="none">
                <a:solidFill>
                  <a:srgbClr val="4F4C4D"/>
                </a:solidFill>
                <a:latin typeface="Arial"/>
                <a:ea typeface="Arial"/>
                <a:cs typeface="Arial"/>
                <a:sym typeface="Arial"/>
              </a:rPr>
              <a:t>In the event of any discrepancy between these guidelines and the official regulations or final announcements of either university, the official regulations and final announcements will prevail. This brochure has been prepared from the 2027/28 admissions guidelines and is subject to change.</a:t>
            </a:r>
            <a:endParaRPr/>
          </a:p>
        </p:txBody>
      </p:sp>
      <p:sp>
        <p:nvSpPr>
          <p:cNvPr id="381" name="Google Shape;381;p16"/>
          <p:cNvSpPr txBox="1"/>
          <p:nvPr/>
        </p:nvSpPr>
        <p:spPr>
          <a:xfrm>
            <a:off x="648000" y="6174000"/>
            <a:ext cx="4968000" cy="154800"/>
          </a:xfrm>
          <a:prstGeom prst="rect">
            <a:avLst/>
          </a:prstGeom>
          <a:noFill/>
          <a:ln>
            <a:noFill/>
          </a:ln>
        </p:spPr>
        <p:txBody>
          <a:bodyPr spcFirstLastPara="1" wrap="square" lIns="0" tIns="0" rIns="0" bIns="0" anchor="t" anchorCtr="0">
            <a:spAutoFit/>
          </a:bodyPr>
          <a:lstStyle/>
          <a:p>
            <a:pPr marL="0" marR="0" lvl="0" indent="0" algn="r" rtl="0">
              <a:lnSpc>
                <a:spcPct val="152100"/>
              </a:lnSpc>
              <a:spcBef>
                <a:spcPts val="0"/>
              </a:spcBef>
              <a:spcAft>
                <a:spcPts val="0"/>
              </a:spcAft>
              <a:buNone/>
            </a:pPr>
            <a:r>
              <a:rPr lang="en-US" sz="800" b="0" i="0" u="none" strike="noStrike" cap="none">
                <a:solidFill>
                  <a:srgbClr val="8C8A8B"/>
                </a:solidFill>
                <a:latin typeface="Arial"/>
                <a:ea typeface="Arial"/>
                <a:cs typeface="Arial"/>
                <a:sym typeface="Arial"/>
              </a:rPr>
              <a:t>Daewoo Hall, Yonsei University and the LSE Old Building</a:t>
            </a:r>
            <a:endParaRPr sz="800" b="0" i="0" u="none" strike="noStrike" cap="none">
              <a:solidFill>
                <a:srgbClr val="8C8A8B"/>
              </a:solidFill>
              <a:latin typeface="Arial"/>
              <a:ea typeface="Arial"/>
              <a:cs typeface="Arial"/>
              <a:sym typeface="Arial"/>
            </a:endParaRPr>
          </a:p>
        </p:txBody>
      </p:sp>
      <p:sp>
        <p:nvSpPr>
          <p:cNvPr id="382" name="Google Shape;382;p16"/>
          <p:cNvSpPr/>
          <p:nvPr/>
        </p:nvSpPr>
        <p:spPr>
          <a:xfrm>
            <a:off x="648000" y="1368000"/>
            <a:ext cx="4968000" cy="39600"/>
          </a:xfrm>
          <a:prstGeom prst="rect">
            <a:avLst/>
          </a:prstGeom>
          <a:solidFill>
            <a:srgbClr val="133267"/>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3" name="Google Shape;383;p16"/>
          <p:cNvSpPr/>
          <p:nvPr/>
        </p:nvSpPr>
        <p:spPr>
          <a:xfrm>
            <a:off x="648000" y="2880000"/>
            <a:ext cx="4968000" cy="39600"/>
          </a:xfrm>
          <a:prstGeom prst="rect">
            <a:avLst/>
          </a:prstGeom>
          <a:solidFill>
            <a:srgbClr val="A4243B"/>
          </a:solidFill>
          <a:ln>
            <a:noFill/>
          </a:ln>
        </p:spPr>
        <p:txBody>
          <a:bodyPr spcFirstLastPara="1" wrap="square" lIns="0" tIns="0" rIns="0" bIns="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84" name="Google Shape;384;p16"/>
          <p:cNvSpPr txBox="1"/>
          <p:nvPr/>
        </p:nvSpPr>
        <p:spPr>
          <a:xfrm>
            <a:off x="556560" y="900000"/>
            <a:ext cx="5148000" cy="27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64646"/>
                </a:solidFill>
                <a:latin typeface="Arial"/>
                <a:ea typeface="Arial"/>
                <a:cs typeface="Arial"/>
                <a:sym typeface="Arial"/>
              </a:rPr>
              <a:t>For programme enquiries, please contact either department by email.</a:t>
            </a:r>
            <a:endParaRPr/>
          </a:p>
        </p:txBody>
      </p:sp>
      <p:pic>
        <p:nvPicPr>
          <p:cNvPr id="385" name="Google Shape;385;p16"/>
          <p:cNvPicPr preferRelativeResize="0"/>
          <p:nvPr/>
        </p:nvPicPr>
        <p:blipFill rotWithShape="1">
          <a:blip r:embed="rId5">
            <a:alphaModFix/>
          </a:blip>
          <a:srcRect l="11900" r="11900"/>
          <a:stretch/>
        </p:blipFill>
        <p:spPr>
          <a:xfrm>
            <a:off x="6048000" y="0"/>
            <a:ext cx="6144012" cy="6858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2631</Words>
  <Application>Microsoft Office PowerPoint</Application>
  <PresentationFormat>Widescreen</PresentationFormat>
  <Paragraphs>314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Times New Roman</vt:lpstr>
      <vt:lpstr>Arial</vt:lpstr>
      <vt:lpstr>Arial Narrow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Andy Wilson</dc:creator>
  <cp:lastModifiedBy>Duk Gyoo Kim</cp:lastModifiedBy>
  <cp:revision>3</cp:revision>
  <dcterms:created xsi:type="dcterms:W3CDTF">2013-01-27T09:14:16Z</dcterms:created>
  <dcterms:modified xsi:type="dcterms:W3CDTF">2026-10-12T15:59:35Z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0x0101009D0D65E7C2347D4E8ECBD54CE24C0D2F</vt:lpwstr>
  </property>
</Properties>
</file>